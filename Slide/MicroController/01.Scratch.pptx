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7" d="100"/>
          <a:sy n="97" d="100"/>
        </p:scale>
        <p:origin x="1074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F21E5-985C-6D67-4C5C-9FFA6CFAC5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AEA7C6A-436A-0099-F1D8-15AD2AE155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5DB250-1C7A-AEAD-A3B7-5864D76E93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36EE4A-4441-42C2-9290-E89E57CCAC53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D1AB16-3BBC-88A6-6F02-54F3308127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2FD7E3-D15A-033E-D097-8005448936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58B7E7-D301-4F2C-9AD9-E8A6594025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04053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54E427-7D5E-4DCD-8760-2033770B18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7F7A17-65A2-F59B-0130-C5618999A3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390F64-7610-5274-3871-CA3C6FA11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36EE4A-4441-42C2-9290-E89E57CCAC53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A2073D-987C-D26D-9EA6-3757D8D2AA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A5AF84-FCCB-7FB8-DE2D-36E58FE448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58B7E7-D301-4F2C-9AD9-E8A6594025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26230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E816B4-359C-F9EC-DF17-4C9C707EB9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86961C-6765-1401-EE6B-1C87337E85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81EE55-0768-2CB2-22B5-6FAC3A48DC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36EE4A-4441-42C2-9290-E89E57CCAC53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67F651-8903-2EB3-B991-49039BE43C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4E214E-42B1-7F8F-DFFB-B774C5F3A6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58B7E7-D301-4F2C-9AD9-E8A6594025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01113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2652A-A739-4F81-85C7-EDDD48245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5D036C-C115-2431-AD85-D66928829FB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061D31-71B9-2A06-530B-6BE0B3D944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1A4BC2-AA94-E5E4-65CE-8D3922ABC3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36EE4A-4441-42C2-9290-E89E57CCAC53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C7DB51-1997-12C7-729C-89AB23D0DB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DCE62E-8714-A580-CA05-6B11CC754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58B7E7-D301-4F2C-9AD9-E8A6594025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15949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25A5AD-CF63-00E7-B795-B3EA019989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F00E8C-96E7-D3E5-83BD-66962250D0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A508DA-D3EE-EFD9-4269-775FAAD800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105294B-BA73-C1AB-EEDD-D5835B9ECA6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3ABC9B-2A7B-A693-9A05-230619BAC3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DED886-FB1B-EB80-5811-201F03FAF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36EE4A-4441-42C2-9290-E89E57CCAC53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ED75A6A-AB55-09F5-EC04-8F573DF890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A942044-4EF6-9591-D972-632CF10D4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58B7E7-D301-4F2C-9AD9-E8A6594025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99884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7F8BEF-B2FD-AA6F-6ED0-0CCD20753C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93ECB5-4C6B-D975-0329-B65FBACD8D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36EE4A-4441-42C2-9290-E89E57CCAC53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FCA3C0-4A76-1C48-1F03-774DBC24A4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BAE3DF3-792E-4CF8-67E3-3802C538A0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58B7E7-D301-4F2C-9AD9-E8A6594025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66298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D43FE7E-324C-BB0C-126E-EA8A9BB08C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36EE4A-4441-42C2-9290-E89E57CCAC53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753E75D-DED6-63CD-524B-0A69F9DD00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4AE61E-3CF0-2BEC-8135-46EB66BC9B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58B7E7-D301-4F2C-9AD9-E8A6594025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07360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4D5D8B-DA75-03E6-49DE-F39817BC4D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6CCE64-0B8E-9440-E1CD-3AF6040797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26FE02-3B5C-442D-9F94-4EA96EF58C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A6849E-0D47-796E-02DB-AD41C9EB73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36EE4A-4441-42C2-9290-E89E57CCAC53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F8E521-58A1-681C-B064-556517C18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80078B-99A4-0A45-6C13-5C5CF3AEF1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58B7E7-D301-4F2C-9AD9-E8A6594025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28387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D8E86-4F77-FD26-8A52-B87E79ED45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2E107B4-3E92-21BB-7131-F6103BD888A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EC95A5-6638-0802-3938-2D6C46AD16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DD78BC-7317-ABD1-7401-9FB2FE8335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36EE4A-4441-42C2-9290-E89E57CCAC53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710AC2-BF64-700E-1D0F-1A30871A2A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D3ADFB-C386-C09F-665C-088387583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58B7E7-D301-4F2C-9AD9-E8A6594025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55298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833C18-1577-E0E7-F3C0-2C632A205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7A3F177-5DAA-390E-F935-46F2703FF2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81B7C2-AF0D-E82B-4FBC-EB0DE3DC87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36EE4A-4441-42C2-9290-E89E57CCAC53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DB1A3-C783-C995-B35A-D43545F58E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788B5D-F41D-491F-5DE0-1A8D402F93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58B7E7-D301-4F2C-9AD9-E8A6594025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27421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AC16E5C-0612-8B34-A646-5CE91B2257D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7D8EF4-2D02-172F-96C4-B9635CAD5E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0E76D2-D9E0-8932-3CC1-E9247DA4BB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36EE4A-4441-42C2-9290-E89E57CCAC53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AD78F9-4363-2C51-146E-CDE149342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A4C4C2-AF3E-FD6E-FE32-7F81F84484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58B7E7-D301-4F2C-9AD9-E8A6594025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00209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E276A2B-2CD3-1B8D-EE8A-84AB2F2296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82BDC8-2386-7FED-FD59-C103CD01FD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54A050-7ECB-4922-A345-8751F8C019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36EE4A-4441-42C2-9290-E89E57CCAC53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E12A66-698A-2C49-8A3B-B86FCCC686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95B3A6-BBDB-7CB9-79DF-25B0BAE8ED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D58B7E7-D301-4F2C-9AD9-E8A6594025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4246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2CA43D6-279C-026B-2ABB-82CB79769B4A}"/>
              </a:ext>
            </a:extLst>
          </p:cNvPr>
          <p:cNvSpPr txBox="1"/>
          <p:nvPr/>
        </p:nvSpPr>
        <p:spPr>
          <a:xfrm>
            <a:off x="1848465" y="953730"/>
            <a:ext cx="2802193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PC/Laptop</a:t>
            </a:r>
          </a:p>
          <a:p>
            <a:r>
              <a:rPr lang="en-US" dirty="0"/>
              <a:t>	- Core</a:t>
            </a:r>
          </a:p>
          <a:p>
            <a:r>
              <a:rPr lang="en-US" dirty="0"/>
              <a:t>	- RAM</a:t>
            </a:r>
          </a:p>
          <a:p>
            <a:r>
              <a:rPr lang="en-US" dirty="0"/>
              <a:t>	- peripheral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Mobile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08147C-BE69-5C03-79C4-EC3EFFCF993C}"/>
              </a:ext>
            </a:extLst>
          </p:cNvPr>
          <p:cNvSpPr txBox="1"/>
          <p:nvPr/>
        </p:nvSpPr>
        <p:spPr>
          <a:xfrm>
            <a:off x="5776452" y="973394"/>
            <a:ext cx="3249561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Embedded</a:t>
            </a:r>
          </a:p>
          <a:p>
            <a:r>
              <a:rPr lang="en-US" dirty="0"/>
              <a:t>	- 8051</a:t>
            </a:r>
          </a:p>
          <a:p>
            <a:r>
              <a:rPr lang="en-US" dirty="0"/>
              <a:t>	- ST</a:t>
            </a:r>
          </a:p>
          <a:p>
            <a:r>
              <a:rPr lang="en-US" dirty="0"/>
              <a:t>	- Texas</a:t>
            </a:r>
          </a:p>
          <a:p>
            <a:r>
              <a:rPr lang="en-US" dirty="0"/>
              <a:t>	- NXP</a:t>
            </a:r>
          </a:p>
          <a:p>
            <a:endParaRPr lang="en-US" dirty="0"/>
          </a:p>
          <a:p>
            <a:r>
              <a:rPr lang="en-US" dirty="0"/>
              <a:t>ARM: </a:t>
            </a:r>
          </a:p>
          <a:p>
            <a:r>
              <a:rPr lang="en-US" dirty="0"/>
              <a:t>	- Application</a:t>
            </a:r>
          </a:p>
          <a:p>
            <a:r>
              <a:rPr lang="en-US" dirty="0"/>
              <a:t>	- Real-time</a:t>
            </a:r>
          </a:p>
          <a:p>
            <a:r>
              <a:rPr lang="en-US" dirty="0"/>
              <a:t>	- Micro-controller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99527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3C5F9C-C493-24FF-E145-213CFD3DFE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344DC44-D80D-853A-C2E5-864D6EBDB29D}"/>
              </a:ext>
            </a:extLst>
          </p:cNvPr>
          <p:cNvSpPr txBox="1"/>
          <p:nvPr/>
        </p:nvSpPr>
        <p:spPr>
          <a:xfrm>
            <a:off x="1828800" y="1258529"/>
            <a:ext cx="280219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PC: multiple purpose</a:t>
            </a:r>
          </a:p>
          <a:p>
            <a:r>
              <a:rPr lang="en-US" dirty="0"/>
              <a:t>Work/power point/excel</a:t>
            </a:r>
          </a:p>
          <a:p>
            <a:r>
              <a:rPr lang="en-US" dirty="0"/>
              <a:t>Multi-media</a:t>
            </a:r>
          </a:p>
          <a:p>
            <a:r>
              <a:rPr lang="en-US" dirty="0"/>
              <a:t>Film/music/video</a:t>
            </a:r>
          </a:p>
          <a:p>
            <a:r>
              <a:rPr lang="en-US" dirty="0"/>
              <a:t>…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7FBA2E9-CF39-6BA4-2380-D3994FAF1214}"/>
              </a:ext>
            </a:extLst>
          </p:cNvPr>
          <p:cNvSpPr txBox="1"/>
          <p:nvPr/>
        </p:nvSpPr>
        <p:spPr>
          <a:xfrm>
            <a:off x="5697794" y="1258529"/>
            <a:ext cx="32495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Embedded: 1 specific task</a:t>
            </a:r>
          </a:p>
        </p:txBody>
      </p:sp>
    </p:spTree>
    <p:extLst>
      <p:ext uri="{BB962C8B-B14F-4D97-AF65-F5344CB8AC3E}">
        <p14:creationId xmlns:p14="http://schemas.microsoft.com/office/powerpoint/2010/main" val="6323134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CC6077-2EF2-83A2-94E7-F3841F785D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A566CFD-ABA0-39C6-9247-713A10780A36}"/>
              </a:ext>
            </a:extLst>
          </p:cNvPr>
          <p:cNvSpPr/>
          <p:nvPr/>
        </p:nvSpPr>
        <p:spPr>
          <a:xfrm>
            <a:off x="1546123" y="2469743"/>
            <a:ext cx="1759974" cy="1887791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CPU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39D12FA-F3D6-2DC7-8B2D-508D75019663}"/>
              </a:ext>
            </a:extLst>
          </p:cNvPr>
          <p:cNvSpPr/>
          <p:nvPr/>
        </p:nvSpPr>
        <p:spPr>
          <a:xfrm>
            <a:off x="5172384" y="419615"/>
            <a:ext cx="5228306" cy="1885335"/>
          </a:xfrm>
          <a:prstGeom prst="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Memory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E4F3E87-05F5-08A4-2ABF-C62242AF6BD2}"/>
              </a:ext>
            </a:extLst>
          </p:cNvPr>
          <p:cNvSpPr/>
          <p:nvPr/>
        </p:nvSpPr>
        <p:spPr>
          <a:xfrm>
            <a:off x="4564626" y="4503173"/>
            <a:ext cx="1371600" cy="973394"/>
          </a:xfrm>
          <a:prstGeom prst="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I/O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88B5A01-7D28-B26E-AE28-E72E926531E3}"/>
              </a:ext>
            </a:extLst>
          </p:cNvPr>
          <p:cNvSpPr/>
          <p:nvPr/>
        </p:nvSpPr>
        <p:spPr>
          <a:xfrm>
            <a:off x="6233653" y="4513006"/>
            <a:ext cx="1371600" cy="973394"/>
          </a:xfrm>
          <a:prstGeom prst="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I/O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EC76E2D-C5E8-656F-A7AA-236B0F788494}"/>
              </a:ext>
            </a:extLst>
          </p:cNvPr>
          <p:cNvSpPr/>
          <p:nvPr/>
        </p:nvSpPr>
        <p:spPr>
          <a:xfrm>
            <a:off x="7880557" y="4513006"/>
            <a:ext cx="1371600" cy="973394"/>
          </a:xfrm>
          <a:prstGeom prst="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I/O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54F86EE-F6A4-693F-3612-45A3BDBA1810}"/>
              </a:ext>
            </a:extLst>
          </p:cNvPr>
          <p:cNvSpPr/>
          <p:nvPr/>
        </p:nvSpPr>
        <p:spPr>
          <a:xfrm>
            <a:off x="9507796" y="4513006"/>
            <a:ext cx="1371600" cy="973394"/>
          </a:xfrm>
          <a:prstGeom prst="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I/O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546BD3F-FAC0-CAD1-AEA2-73033CB502AD}"/>
              </a:ext>
            </a:extLst>
          </p:cNvPr>
          <p:cNvCxnSpPr/>
          <p:nvPr/>
        </p:nvCxnSpPr>
        <p:spPr>
          <a:xfrm>
            <a:off x="3283974" y="2821858"/>
            <a:ext cx="7855974" cy="0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17413D2-0247-E96F-4C9A-E8F87651AB11}"/>
              </a:ext>
            </a:extLst>
          </p:cNvPr>
          <p:cNvCxnSpPr/>
          <p:nvPr/>
        </p:nvCxnSpPr>
        <p:spPr>
          <a:xfrm>
            <a:off x="3283974" y="3220065"/>
            <a:ext cx="7855974" cy="0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D820B90-C6D6-2795-3661-6FB27DA33064}"/>
              </a:ext>
            </a:extLst>
          </p:cNvPr>
          <p:cNvCxnSpPr/>
          <p:nvPr/>
        </p:nvCxnSpPr>
        <p:spPr>
          <a:xfrm>
            <a:off x="3283974" y="3706761"/>
            <a:ext cx="7855974" cy="0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32DE4E9-DC36-B0E4-4171-8C8E5F070218}"/>
              </a:ext>
            </a:extLst>
          </p:cNvPr>
          <p:cNvCxnSpPr>
            <a:cxnSpLocks/>
            <a:endCxn id="3" idx="2"/>
          </p:cNvCxnSpPr>
          <p:nvPr/>
        </p:nvCxnSpPr>
        <p:spPr>
          <a:xfrm flipH="1" flipV="1">
            <a:off x="7786537" y="2304950"/>
            <a:ext cx="222454" cy="4596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95FA2A2-7482-E05A-B22B-C22FBE3F3190}"/>
              </a:ext>
            </a:extLst>
          </p:cNvPr>
          <p:cNvCxnSpPr>
            <a:cxnSpLocks/>
            <a:endCxn id="6" idx="0"/>
          </p:cNvCxnSpPr>
          <p:nvPr/>
        </p:nvCxnSpPr>
        <p:spPr>
          <a:xfrm>
            <a:off x="5250426" y="3696928"/>
            <a:ext cx="0" cy="8062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1B552A6-3153-1D1F-CE95-C54725D862D7}"/>
              </a:ext>
            </a:extLst>
          </p:cNvPr>
          <p:cNvCxnSpPr>
            <a:cxnSpLocks/>
            <a:endCxn id="7" idx="0"/>
          </p:cNvCxnSpPr>
          <p:nvPr/>
        </p:nvCxnSpPr>
        <p:spPr>
          <a:xfrm>
            <a:off x="6919453" y="3706761"/>
            <a:ext cx="0" cy="8062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4ED2EFF2-020F-7577-1CB1-6811A732A2F5}"/>
              </a:ext>
            </a:extLst>
          </p:cNvPr>
          <p:cNvCxnSpPr>
            <a:cxnSpLocks/>
          </p:cNvCxnSpPr>
          <p:nvPr/>
        </p:nvCxnSpPr>
        <p:spPr>
          <a:xfrm>
            <a:off x="8556524" y="3706761"/>
            <a:ext cx="0" cy="8062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2FDF2B14-8ABF-EBD8-662B-1B24934EA983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10193596" y="3706761"/>
            <a:ext cx="0" cy="8062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E7BF5E1D-6B26-8D9C-BABF-3D1351836C24}"/>
              </a:ext>
            </a:extLst>
          </p:cNvPr>
          <p:cNvSpPr txBox="1"/>
          <p:nvPr/>
        </p:nvSpPr>
        <p:spPr>
          <a:xfrm>
            <a:off x="10618838" y="2491855"/>
            <a:ext cx="10815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data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D24A160-5257-2DD5-8C2F-66519898173F}"/>
              </a:ext>
            </a:extLst>
          </p:cNvPr>
          <p:cNvSpPr txBox="1"/>
          <p:nvPr/>
        </p:nvSpPr>
        <p:spPr>
          <a:xfrm>
            <a:off x="10618838" y="2887915"/>
            <a:ext cx="10815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address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146C4A0-DB29-47D2-30D7-64828C139FE5}"/>
              </a:ext>
            </a:extLst>
          </p:cNvPr>
          <p:cNvSpPr txBox="1"/>
          <p:nvPr/>
        </p:nvSpPr>
        <p:spPr>
          <a:xfrm>
            <a:off x="10648332" y="3377379"/>
            <a:ext cx="10815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control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D46E16E7-F6FE-C3A3-20BE-FDC8A393886C}"/>
              </a:ext>
            </a:extLst>
          </p:cNvPr>
          <p:cNvCxnSpPr/>
          <p:nvPr/>
        </p:nvCxnSpPr>
        <p:spPr>
          <a:xfrm>
            <a:off x="5643716" y="2821858"/>
            <a:ext cx="0" cy="16911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1E888937-1D8B-41EE-DB99-B4661A332B1E}"/>
              </a:ext>
            </a:extLst>
          </p:cNvPr>
          <p:cNvCxnSpPr/>
          <p:nvPr/>
        </p:nvCxnSpPr>
        <p:spPr>
          <a:xfrm>
            <a:off x="6749845" y="2821858"/>
            <a:ext cx="0" cy="16911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CCFC86D2-4A49-3898-DE37-9FFD17F2A85F}"/>
              </a:ext>
            </a:extLst>
          </p:cNvPr>
          <p:cNvCxnSpPr/>
          <p:nvPr/>
        </p:nvCxnSpPr>
        <p:spPr>
          <a:xfrm>
            <a:off x="8396748" y="2821858"/>
            <a:ext cx="0" cy="16911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0D2B14D6-BD37-42A0-BC65-1C04C6BF52F4}"/>
              </a:ext>
            </a:extLst>
          </p:cNvPr>
          <p:cNvCxnSpPr/>
          <p:nvPr/>
        </p:nvCxnSpPr>
        <p:spPr>
          <a:xfrm>
            <a:off x="10023986" y="2821858"/>
            <a:ext cx="0" cy="16911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43" name="Rectangle 42">
            <a:extLst>
              <a:ext uri="{FF2B5EF4-FFF2-40B4-BE49-F238E27FC236}">
                <a16:creationId xmlns:a16="http://schemas.microsoft.com/office/drawing/2014/main" id="{3E6A037F-CEEA-9801-CBF0-189C3E16A264}"/>
              </a:ext>
            </a:extLst>
          </p:cNvPr>
          <p:cNvSpPr/>
          <p:nvPr/>
        </p:nvSpPr>
        <p:spPr>
          <a:xfrm>
            <a:off x="1494505" y="4485968"/>
            <a:ext cx="2278627" cy="2310578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879D9DED-7F88-C336-DDEA-120C23F59632}"/>
              </a:ext>
            </a:extLst>
          </p:cNvPr>
          <p:cNvCxnSpPr>
            <a:cxnSpLocks/>
            <a:stCxn id="2" idx="2"/>
            <a:endCxn id="43" idx="0"/>
          </p:cNvCxnSpPr>
          <p:nvPr/>
        </p:nvCxnSpPr>
        <p:spPr>
          <a:xfrm>
            <a:off x="2426110" y="4357534"/>
            <a:ext cx="207709" cy="1284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6A20DF5A-5D2D-82B8-0E84-535806D8E3F7}"/>
              </a:ext>
            </a:extLst>
          </p:cNvPr>
          <p:cNvSpPr/>
          <p:nvPr/>
        </p:nvSpPr>
        <p:spPr>
          <a:xfrm>
            <a:off x="2148350" y="4742836"/>
            <a:ext cx="970938" cy="4621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ALU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F81DDEA-39FD-1C04-A15F-6476E25C16BB}"/>
              </a:ext>
            </a:extLst>
          </p:cNvPr>
          <p:cNvSpPr/>
          <p:nvPr/>
        </p:nvSpPr>
        <p:spPr>
          <a:xfrm>
            <a:off x="2088128" y="5348748"/>
            <a:ext cx="1193390" cy="46211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CU:</a:t>
            </a:r>
          </a:p>
          <a:p>
            <a:pPr algn="ctr"/>
            <a:r>
              <a:rPr lang="en-US" dirty="0"/>
              <a:t>X = x * 5;</a:t>
            </a:r>
          </a:p>
          <a:p>
            <a:pPr algn="ctr"/>
            <a:endParaRPr lang="en-US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4A24A60B-10BC-A948-7FFB-81F5A106F9C3}"/>
              </a:ext>
            </a:extLst>
          </p:cNvPr>
          <p:cNvSpPr/>
          <p:nvPr/>
        </p:nvSpPr>
        <p:spPr>
          <a:xfrm>
            <a:off x="1819588" y="5948516"/>
            <a:ext cx="1730470" cy="820991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CPU memory</a:t>
            </a:r>
          </a:p>
          <a:p>
            <a:pPr algn="ctr"/>
            <a:r>
              <a:rPr lang="en-US" dirty="0"/>
              <a:t>100byte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930178-65CC-AC7F-AA00-5D9CCBA72D24}"/>
              </a:ext>
            </a:extLst>
          </p:cNvPr>
          <p:cNvSpPr txBox="1"/>
          <p:nvPr/>
        </p:nvSpPr>
        <p:spPr>
          <a:xfrm>
            <a:off x="764460" y="-51615"/>
            <a:ext cx="327414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Central Processing Unit: 2.5 + 4.5</a:t>
            </a:r>
          </a:p>
          <a:p>
            <a:endParaRPr lang="en-US" dirty="0"/>
          </a:p>
          <a:p>
            <a:r>
              <a:rPr lang="en-US" dirty="0"/>
              <a:t>Arithmetic Logic Unit: +, -, *, /, &lt;&lt;, &gt;&gt;</a:t>
            </a:r>
          </a:p>
          <a:p>
            <a:r>
              <a:rPr lang="en-US" dirty="0"/>
              <a:t>Control Unit</a:t>
            </a:r>
          </a:p>
          <a:p>
            <a:r>
              <a:rPr lang="en-US" dirty="0"/>
              <a:t>CPU memory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03BAD8A-6F13-27D9-3E86-33C4B886C878}"/>
              </a:ext>
            </a:extLst>
          </p:cNvPr>
          <p:cNvSpPr/>
          <p:nvPr/>
        </p:nvSpPr>
        <p:spPr>
          <a:xfrm>
            <a:off x="5240593" y="560439"/>
            <a:ext cx="1897627" cy="941433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Text</a:t>
            </a:r>
          </a:p>
          <a:p>
            <a:pPr algn="ctr"/>
            <a:r>
              <a:rPr lang="en-US" dirty="0"/>
              <a:t>Int x = 5;</a:t>
            </a:r>
          </a:p>
          <a:p>
            <a:pPr algn="ctr"/>
            <a:r>
              <a:rPr lang="en-US" dirty="0"/>
              <a:t>X = x + 2;</a:t>
            </a:r>
          </a:p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5AF5BD4-734E-5D25-7767-E763E5318549}"/>
              </a:ext>
            </a:extLst>
          </p:cNvPr>
          <p:cNvSpPr/>
          <p:nvPr/>
        </p:nvSpPr>
        <p:spPr>
          <a:xfrm>
            <a:off x="7342239" y="721449"/>
            <a:ext cx="1042219" cy="698083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A082570-68E1-AD7A-709F-E2C591E1BF18}"/>
              </a:ext>
            </a:extLst>
          </p:cNvPr>
          <p:cNvSpPr/>
          <p:nvPr/>
        </p:nvSpPr>
        <p:spPr>
          <a:xfrm>
            <a:off x="8676966" y="757083"/>
            <a:ext cx="1042219" cy="698083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bss</a:t>
            </a:r>
            <a:endParaRPr lang="en-US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AE62AB5-53E8-10B4-F51C-A6C59B91E75F}"/>
              </a:ext>
            </a:extLst>
          </p:cNvPr>
          <p:cNvSpPr/>
          <p:nvPr/>
        </p:nvSpPr>
        <p:spPr>
          <a:xfrm>
            <a:off x="5545394" y="1651827"/>
            <a:ext cx="1623551" cy="698083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stack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7886538-D69E-5943-DA60-D75A560779E5}"/>
              </a:ext>
            </a:extLst>
          </p:cNvPr>
          <p:cNvSpPr/>
          <p:nvPr/>
        </p:nvSpPr>
        <p:spPr>
          <a:xfrm>
            <a:off x="7639051" y="1592307"/>
            <a:ext cx="1042219" cy="698083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heap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88305E3-C193-71A5-7B22-1AABEA3FAC94}"/>
              </a:ext>
            </a:extLst>
          </p:cNvPr>
          <p:cNvSpPr/>
          <p:nvPr/>
        </p:nvSpPr>
        <p:spPr>
          <a:xfrm>
            <a:off x="6529544" y="1723114"/>
            <a:ext cx="608676" cy="27775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35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7894027-2E51-7C74-E463-3DFDBDE467AE}"/>
              </a:ext>
            </a:extLst>
          </p:cNvPr>
          <p:cNvCxnSpPr/>
          <p:nvPr/>
        </p:nvCxnSpPr>
        <p:spPr>
          <a:xfrm flipV="1">
            <a:off x="2633819" y="5164394"/>
            <a:ext cx="0" cy="2458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3D180B13-E322-D2D6-BD7F-EA1AD1EB97D4}"/>
              </a:ext>
            </a:extLst>
          </p:cNvPr>
          <p:cNvCxnSpPr/>
          <p:nvPr/>
        </p:nvCxnSpPr>
        <p:spPr>
          <a:xfrm flipV="1">
            <a:off x="3097161" y="5164394"/>
            <a:ext cx="0" cy="2458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0BBDD555-5024-B6D3-F059-75FBCC31E822}"/>
              </a:ext>
            </a:extLst>
          </p:cNvPr>
          <p:cNvCxnSpPr>
            <a:stCxn id="47" idx="1"/>
          </p:cNvCxnSpPr>
          <p:nvPr/>
        </p:nvCxnSpPr>
        <p:spPr>
          <a:xfrm>
            <a:off x="2148350" y="4973894"/>
            <a:ext cx="0" cy="5530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B9F9257E-406B-4136-6F61-A3DAE2843EEC}"/>
              </a:ext>
            </a:extLst>
          </p:cNvPr>
          <p:cNvSpPr txBox="1"/>
          <p:nvPr/>
        </p:nvSpPr>
        <p:spPr>
          <a:xfrm>
            <a:off x="8986680" y="27351"/>
            <a:ext cx="332330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 err="1"/>
              <a:t>lệnh</a:t>
            </a:r>
            <a:r>
              <a:rPr lang="en-US" dirty="0"/>
              <a:t>: </a:t>
            </a:r>
            <a:r>
              <a:rPr lang="en-US" dirty="0" err="1"/>
              <a:t>lưu</a:t>
            </a:r>
            <a:r>
              <a:rPr lang="en-US" dirty="0"/>
              <a:t> </a:t>
            </a:r>
            <a:r>
              <a:rPr lang="en-US" dirty="0" err="1"/>
              <a:t>trên</a:t>
            </a:r>
            <a:r>
              <a:rPr lang="en-US" dirty="0"/>
              <a:t> </a:t>
            </a:r>
            <a:r>
              <a:rPr lang="en-US" dirty="0" err="1"/>
              <a:t>ssd</a:t>
            </a:r>
            <a:r>
              <a:rPr lang="en-US" dirty="0"/>
              <a:t>/</a:t>
            </a:r>
            <a:r>
              <a:rPr lang="en-US" dirty="0" err="1"/>
              <a:t>hdd</a:t>
            </a:r>
            <a:r>
              <a:rPr lang="en-US" dirty="0"/>
              <a:t> (</a:t>
            </a:r>
            <a:r>
              <a:rPr lang="en-US" dirty="0" err="1"/>
              <a:t>khi</a:t>
            </a:r>
            <a:r>
              <a:rPr lang="en-US" dirty="0"/>
              <a:t> </a:t>
            </a:r>
            <a:r>
              <a:rPr lang="en-US" dirty="0" err="1"/>
              <a:t>chưa</a:t>
            </a:r>
            <a:r>
              <a:rPr lang="en-US" dirty="0"/>
              <a:t> </a:t>
            </a:r>
            <a:r>
              <a:rPr lang="en-US" dirty="0" err="1"/>
              <a:t>chạy</a:t>
            </a:r>
            <a:r>
              <a:rPr lang="en-US" dirty="0"/>
              <a:t> </a:t>
            </a:r>
            <a:r>
              <a:rPr lang="en-US" dirty="0" err="1"/>
              <a:t>chương</a:t>
            </a:r>
            <a:r>
              <a:rPr lang="en-US" dirty="0"/>
              <a:t> </a:t>
            </a:r>
            <a:r>
              <a:rPr lang="en-US" dirty="0" err="1"/>
              <a:t>trình</a:t>
            </a:r>
            <a:r>
              <a:rPr lang="en-US" dirty="0"/>
              <a:t>)</a:t>
            </a:r>
          </a:p>
          <a:p>
            <a:pPr marL="342900" indent="-342900">
              <a:buAutoNum type="arabicPeriod"/>
            </a:pPr>
            <a:r>
              <a:rPr lang="en-US" dirty="0"/>
              <a:t>Khi </a:t>
            </a:r>
            <a:r>
              <a:rPr lang="en-US" dirty="0" err="1"/>
              <a:t>chạy</a:t>
            </a:r>
            <a:r>
              <a:rPr lang="en-US" dirty="0"/>
              <a:t> </a:t>
            </a:r>
            <a:r>
              <a:rPr lang="en-US" dirty="0" err="1"/>
              <a:t>chương</a:t>
            </a:r>
            <a:r>
              <a:rPr lang="en-US" dirty="0"/>
              <a:t> </a:t>
            </a:r>
            <a:r>
              <a:rPr lang="en-US" dirty="0" err="1"/>
              <a:t>trình</a:t>
            </a:r>
            <a:r>
              <a:rPr lang="en-US" dirty="0"/>
              <a:t>: </a:t>
            </a:r>
            <a:r>
              <a:rPr lang="en-US" dirty="0" err="1"/>
              <a:t>nằm</a:t>
            </a:r>
            <a:r>
              <a:rPr lang="en-US" dirty="0"/>
              <a:t> ở </a:t>
            </a:r>
            <a:r>
              <a:rPr lang="en-US" dirty="0" err="1"/>
              <a:t>vùng</a:t>
            </a:r>
            <a:r>
              <a:rPr lang="en-US" dirty="0"/>
              <a:t> text </a:t>
            </a:r>
            <a:r>
              <a:rPr lang="en-US" dirty="0" err="1"/>
              <a:t>của</a:t>
            </a:r>
            <a:r>
              <a:rPr lang="en-US" dirty="0"/>
              <a:t> RAM</a:t>
            </a:r>
          </a:p>
          <a:p>
            <a:pPr marL="342900" indent="-342900">
              <a:buAutoNum type="arabicPeriod"/>
            </a:pPr>
            <a:r>
              <a:rPr lang="en-US" dirty="0" err="1"/>
              <a:t>Lệnh</a:t>
            </a:r>
            <a:r>
              <a:rPr lang="en-US" dirty="0"/>
              <a:t> </a:t>
            </a: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thực</a:t>
            </a:r>
            <a:r>
              <a:rPr lang="en-US" dirty="0"/>
              <a:t> </a:t>
            </a:r>
            <a:r>
              <a:rPr lang="en-US" dirty="0" err="1"/>
              <a:t>thi</a:t>
            </a:r>
            <a:r>
              <a:rPr lang="en-US" dirty="0"/>
              <a:t> ở CU (CPU)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endParaRPr lang="en-US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8F39458-3DBD-23D6-755A-A0D72B39852A}"/>
              </a:ext>
            </a:extLst>
          </p:cNvPr>
          <p:cNvSpPr txBox="1"/>
          <p:nvPr/>
        </p:nvSpPr>
        <p:spPr>
          <a:xfrm>
            <a:off x="4366755" y="5592237"/>
            <a:ext cx="22230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RAM: random access memory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4AC0FD9-97F0-488C-65B2-F1D6A108EC6D}"/>
              </a:ext>
            </a:extLst>
          </p:cNvPr>
          <p:cNvSpPr txBox="1"/>
          <p:nvPr/>
        </p:nvSpPr>
        <p:spPr>
          <a:xfrm>
            <a:off x="6690389" y="5700389"/>
            <a:ext cx="256176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ROM: read-only memory</a:t>
            </a:r>
          </a:p>
          <a:p>
            <a:r>
              <a:rPr lang="en-US" dirty="0"/>
              <a:t>Flash: </a:t>
            </a:r>
            <a:r>
              <a:rPr lang="en-US" dirty="0" err="1"/>
              <a:t>lưu</a:t>
            </a:r>
            <a:r>
              <a:rPr lang="en-US" dirty="0"/>
              <a:t> </a:t>
            </a:r>
            <a:r>
              <a:rPr lang="en-US" dirty="0" err="1"/>
              <a:t>chương</a:t>
            </a:r>
            <a:r>
              <a:rPr lang="en-US" dirty="0"/>
              <a:t> </a:t>
            </a:r>
            <a:r>
              <a:rPr lang="en-US" dirty="0" err="1"/>
              <a:t>trình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83939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C279C4-0DA6-1514-25EC-942F884FD1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4482B6E-96D1-AB59-84F8-135C7CFA9D9B}"/>
              </a:ext>
            </a:extLst>
          </p:cNvPr>
          <p:cNvSpPr/>
          <p:nvPr/>
        </p:nvSpPr>
        <p:spPr>
          <a:xfrm>
            <a:off x="943896" y="806244"/>
            <a:ext cx="4168877" cy="125852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B6E42A7-2D58-F1B9-4D3C-244E6F240F19}"/>
              </a:ext>
            </a:extLst>
          </p:cNvPr>
          <p:cNvSpPr/>
          <p:nvPr/>
        </p:nvSpPr>
        <p:spPr>
          <a:xfrm>
            <a:off x="1081548" y="2636272"/>
            <a:ext cx="3421626" cy="1258529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NXP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57CF8EB-ABA5-9087-E16F-E3CF1E0AA02E}"/>
              </a:ext>
            </a:extLst>
          </p:cNvPr>
          <p:cNvSpPr/>
          <p:nvPr/>
        </p:nvSpPr>
        <p:spPr>
          <a:xfrm>
            <a:off x="776749" y="4380271"/>
            <a:ext cx="2507226" cy="1258529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Infineon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6B80FA8-2F1C-753E-1359-6970EA69FB0D}"/>
              </a:ext>
            </a:extLst>
          </p:cNvPr>
          <p:cNvSpPr/>
          <p:nvPr/>
        </p:nvSpPr>
        <p:spPr>
          <a:xfrm>
            <a:off x="7821562" y="806243"/>
            <a:ext cx="2507226" cy="1258529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Renesas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261A88-3137-C9FC-4B17-634F80DA6066}"/>
              </a:ext>
            </a:extLst>
          </p:cNvPr>
          <p:cNvSpPr/>
          <p:nvPr/>
        </p:nvSpPr>
        <p:spPr>
          <a:xfrm>
            <a:off x="7693743" y="2485102"/>
            <a:ext cx="2507226" cy="1258529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TI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3A876AC-448D-67F6-65E3-A7F2D9FF797E}"/>
              </a:ext>
            </a:extLst>
          </p:cNvPr>
          <p:cNvSpPr/>
          <p:nvPr/>
        </p:nvSpPr>
        <p:spPr>
          <a:xfrm>
            <a:off x="7693743" y="4248763"/>
            <a:ext cx="4178711" cy="1258529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Ras Pi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50A746A-BFD7-EDB6-AB63-A9F4FEC46F27}"/>
              </a:ext>
            </a:extLst>
          </p:cNvPr>
          <p:cNvSpPr/>
          <p:nvPr/>
        </p:nvSpPr>
        <p:spPr>
          <a:xfrm>
            <a:off x="4842387" y="5422488"/>
            <a:ext cx="2507226" cy="1258529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Open community</a:t>
            </a:r>
          </a:p>
          <a:p>
            <a:pPr algn="ctr"/>
            <a:r>
              <a:rPr lang="en-US" dirty="0"/>
              <a:t>BBB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8EE3CE9-CB4B-A705-3982-691ADFE5B317}"/>
              </a:ext>
            </a:extLst>
          </p:cNvPr>
          <p:cNvSpPr/>
          <p:nvPr/>
        </p:nvSpPr>
        <p:spPr>
          <a:xfrm>
            <a:off x="4964062" y="1495730"/>
            <a:ext cx="2743202" cy="3054147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ARM</a:t>
            </a:r>
          </a:p>
          <a:p>
            <a:pPr marL="285750" indent="-285750" algn="ctr">
              <a:buFont typeface="Wingdings" panose="05000000000000000000" pitchFamily="2" charset="2"/>
              <a:buChar char="Ø"/>
            </a:pPr>
            <a:endParaRPr lang="en-US" dirty="0"/>
          </a:p>
          <a:p>
            <a:pPr marL="285750" indent="-285750" algn="ctr">
              <a:buFont typeface="Wingdings" panose="05000000000000000000" pitchFamily="2" charset="2"/>
              <a:buChar char="Ø"/>
            </a:pPr>
            <a:r>
              <a:rPr lang="en-US" dirty="0"/>
              <a:t>90% CPU</a:t>
            </a:r>
          </a:p>
          <a:p>
            <a:pPr marL="285750" indent="-285750" algn="ctr">
              <a:buFont typeface="Wingdings" panose="05000000000000000000" pitchFamily="2" charset="2"/>
              <a:buChar char="Ø"/>
            </a:pPr>
            <a:r>
              <a:rPr lang="en-US" dirty="0"/>
              <a:t>A profile: application</a:t>
            </a:r>
          </a:p>
          <a:p>
            <a:pPr marL="285750" indent="-285750" algn="ctr">
              <a:buFont typeface="Wingdings" panose="05000000000000000000" pitchFamily="2" charset="2"/>
              <a:buChar char="Ø"/>
            </a:pPr>
            <a:r>
              <a:rPr lang="en-US" dirty="0"/>
              <a:t>R profile: real-time</a:t>
            </a:r>
          </a:p>
          <a:p>
            <a:pPr marL="285750" indent="-285750" algn="ctr">
              <a:buFont typeface="Wingdings" panose="05000000000000000000" pitchFamily="2" charset="2"/>
              <a:buChar char="Ø"/>
            </a:pPr>
            <a:r>
              <a:rPr lang="en-US" dirty="0"/>
              <a:t>M profile: micro controller</a:t>
            </a:r>
          </a:p>
          <a:p>
            <a:pPr algn="ctr"/>
            <a:endParaRPr lang="en-US" dirty="0"/>
          </a:p>
          <a:p>
            <a:pPr marL="285750" indent="-285750" algn="ctr">
              <a:buFont typeface="Wingdings" panose="05000000000000000000" pitchFamily="2" charset="2"/>
              <a:buChar char="Ø"/>
            </a:pPr>
            <a:endParaRPr lang="en-US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A9205AA-F477-D172-10D4-50234E2AB53A}"/>
              </a:ext>
            </a:extLst>
          </p:cNvPr>
          <p:cNvSpPr/>
          <p:nvPr/>
        </p:nvSpPr>
        <p:spPr>
          <a:xfrm>
            <a:off x="1519085" y="926687"/>
            <a:ext cx="1764890" cy="1096297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ARM</a:t>
            </a:r>
          </a:p>
          <a:p>
            <a:pPr marL="285750" indent="-285750" algn="ctr">
              <a:buFont typeface="Wingdings" panose="05000000000000000000" pitchFamily="2" charset="2"/>
              <a:buChar char="Ø"/>
            </a:pPr>
            <a:r>
              <a:rPr lang="en-US" dirty="0"/>
              <a:t>90% CPU</a:t>
            </a:r>
          </a:p>
          <a:p>
            <a:pPr marL="285750" indent="-285750" algn="ctr">
              <a:buFont typeface="Wingdings" panose="05000000000000000000" pitchFamily="2" charset="2"/>
              <a:buChar char="Ø"/>
            </a:pPr>
            <a:endParaRPr lang="en-US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6F56DF2-4227-E901-FE2C-AC5A147D017E}"/>
              </a:ext>
            </a:extLst>
          </p:cNvPr>
          <p:cNvSpPr/>
          <p:nvPr/>
        </p:nvSpPr>
        <p:spPr>
          <a:xfrm>
            <a:off x="1209368" y="2808337"/>
            <a:ext cx="1582993" cy="1088923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ARM</a:t>
            </a:r>
          </a:p>
          <a:p>
            <a:pPr marL="285750" indent="-285750" algn="ctr">
              <a:buFont typeface="Wingdings" panose="05000000000000000000" pitchFamily="2" charset="2"/>
              <a:buChar char="Ø"/>
            </a:pPr>
            <a:r>
              <a:rPr lang="en-US" dirty="0"/>
              <a:t>90% CPU</a:t>
            </a:r>
          </a:p>
          <a:p>
            <a:pPr marL="285750" indent="-285750" algn="ctr">
              <a:buFont typeface="Wingdings" panose="05000000000000000000" pitchFamily="2" charset="2"/>
              <a:buChar char="Ø"/>
            </a:pPr>
            <a:endParaRPr lang="en-US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873D0457-3447-B4F3-02A0-2BB35FA2A7BC}"/>
              </a:ext>
            </a:extLst>
          </p:cNvPr>
          <p:cNvSpPr/>
          <p:nvPr/>
        </p:nvSpPr>
        <p:spPr>
          <a:xfrm>
            <a:off x="1111044" y="4549877"/>
            <a:ext cx="1582993" cy="1088923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ARM</a:t>
            </a:r>
          </a:p>
          <a:p>
            <a:pPr marL="285750" indent="-285750" algn="ctr">
              <a:buFont typeface="Wingdings" panose="05000000000000000000" pitchFamily="2" charset="2"/>
              <a:buChar char="Ø"/>
            </a:pPr>
            <a:r>
              <a:rPr lang="en-US" dirty="0"/>
              <a:t>90% CPU</a:t>
            </a:r>
          </a:p>
          <a:p>
            <a:pPr marL="285750" indent="-285750" algn="ctr">
              <a:buFont typeface="Wingdings" panose="05000000000000000000" pitchFamily="2" charset="2"/>
              <a:buChar char="Ø"/>
            </a:pPr>
            <a:endParaRPr lang="en-US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6EF65821-2BB4-56C0-3399-7C442BDF41B3}"/>
              </a:ext>
            </a:extLst>
          </p:cNvPr>
          <p:cNvSpPr/>
          <p:nvPr/>
        </p:nvSpPr>
        <p:spPr>
          <a:xfrm>
            <a:off x="7949382" y="1064339"/>
            <a:ext cx="1582993" cy="1088923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ARM</a:t>
            </a:r>
          </a:p>
          <a:p>
            <a:pPr marL="285750" indent="-285750" algn="ctr">
              <a:buFont typeface="Wingdings" panose="05000000000000000000" pitchFamily="2" charset="2"/>
              <a:buChar char="Ø"/>
            </a:pPr>
            <a:r>
              <a:rPr lang="en-US" dirty="0"/>
              <a:t>90% CPU</a:t>
            </a:r>
          </a:p>
          <a:p>
            <a:pPr marL="285750" indent="-285750" algn="ctr">
              <a:buFont typeface="Wingdings" panose="05000000000000000000" pitchFamily="2" charset="2"/>
              <a:buChar char="Ø"/>
            </a:pPr>
            <a:endParaRPr lang="en-US" dirty="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45166B10-C97C-670F-AD81-35F3429FE1C6}"/>
              </a:ext>
            </a:extLst>
          </p:cNvPr>
          <p:cNvSpPr/>
          <p:nvPr/>
        </p:nvSpPr>
        <p:spPr>
          <a:xfrm>
            <a:off x="8499989" y="2679289"/>
            <a:ext cx="1582993" cy="1088923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ARM</a:t>
            </a:r>
          </a:p>
          <a:p>
            <a:pPr marL="285750" indent="-285750" algn="ctr">
              <a:buFont typeface="Wingdings" panose="05000000000000000000" pitchFamily="2" charset="2"/>
              <a:buChar char="Ø"/>
            </a:pPr>
            <a:r>
              <a:rPr lang="en-US" dirty="0"/>
              <a:t>90% CPU</a:t>
            </a:r>
          </a:p>
          <a:p>
            <a:pPr marL="285750" indent="-285750" algn="ctr">
              <a:buFont typeface="Wingdings" panose="05000000000000000000" pitchFamily="2" charset="2"/>
              <a:buChar char="Ø"/>
            </a:pPr>
            <a:endParaRPr lang="en-US" dirty="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3350105A-E148-D149-EED3-AEB951D2BD98}"/>
              </a:ext>
            </a:extLst>
          </p:cNvPr>
          <p:cNvSpPr/>
          <p:nvPr/>
        </p:nvSpPr>
        <p:spPr>
          <a:xfrm>
            <a:off x="9409472" y="4163961"/>
            <a:ext cx="1582993" cy="1088923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ARM</a:t>
            </a:r>
          </a:p>
          <a:p>
            <a:pPr marL="285750" indent="-285750" algn="ctr">
              <a:buFont typeface="Wingdings" panose="05000000000000000000" pitchFamily="2" charset="2"/>
              <a:buChar char="Ø"/>
            </a:pPr>
            <a:r>
              <a:rPr lang="en-US" dirty="0"/>
              <a:t>90% CPU</a:t>
            </a:r>
          </a:p>
          <a:p>
            <a:pPr marL="285750" indent="-285750" algn="ctr">
              <a:buFont typeface="Wingdings" panose="05000000000000000000" pitchFamily="2" charset="2"/>
              <a:buChar char="Ø"/>
            </a:pPr>
            <a:endParaRPr lang="en-US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A2E50C35-0255-45E3-1C00-51FD83DE3796}"/>
              </a:ext>
            </a:extLst>
          </p:cNvPr>
          <p:cNvSpPr/>
          <p:nvPr/>
        </p:nvSpPr>
        <p:spPr>
          <a:xfrm>
            <a:off x="4930878" y="5507292"/>
            <a:ext cx="1582993" cy="1088923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ARM</a:t>
            </a:r>
          </a:p>
          <a:p>
            <a:pPr marL="285750" indent="-285750" algn="ctr">
              <a:buFont typeface="Wingdings" panose="05000000000000000000" pitchFamily="2" charset="2"/>
              <a:buChar char="Ø"/>
            </a:pPr>
            <a:r>
              <a:rPr lang="en-US" dirty="0"/>
              <a:t>90% CPU</a:t>
            </a:r>
          </a:p>
          <a:p>
            <a:pPr marL="285750" indent="-285750" algn="ctr">
              <a:buFont typeface="Wingdings" panose="05000000000000000000" pitchFamily="2" charset="2"/>
              <a:buChar char="Ø"/>
            </a:pPr>
            <a:endParaRPr lang="en-US" dirty="0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D0531EE6-538E-2C98-6765-DD960D976B3A}"/>
              </a:ext>
            </a:extLst>
          </p:cNvPr>
          <p:cNvSpPr/>
          <p:nvPr/>
        </p:nvSpPr>
        <p:spPr>
          <a:xfrm>
            <a:off x="3687097" y="926687"/>
            <a:ext cx="941439" cy="469494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I/O1 (ST)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0B33C5CE-BADC-F1A6-3C4B-2E2D68D3EF48}"/>
              </a:ext>
            </a:extLst>
          </p:cNvPr>
          <p:cNvSpPr/>
          <p:nvPr/>
        </p:nvSpPr>
        <p:spPr>
          <a:xfrm>
            <a:off x="3650226" y="1495730"/>
            <a:ext cx="941439" cy="469494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I/O2 (ST)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97B14286-151D-CCF6-0239-3DF1467DB6C8}"/>
              </a:ext>
            </a:extLst>
          </p:cNvPr>
          <p:cNvSpPr/>
          <p:nvPr/>
        </p:nvSpPr>
        <p:spPr>
          <a:xfrm>
            <a:off x="3038166" y="2679289"/>
            <a:ext cx="1170041" cy="36871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NXP I/O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6595224B-E084-8338-C50D-9FDCA033C6FA}"/>
              </a:ext>
            </a:extLst>
          </p:cNvPr>
          <p:cNvSpPr/>
          <p:nvPr/>
        </p:nvSpPr>
        <p:spPr>
          <a:xfrm>
            <a:off x="2987775" y="3151235"/>
            <a:ext cx="1170041" cy="36871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NXP I/O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2A69ABF-B77A-120E-44A6-0FB7ABDB177B}"/>
              </a:ext>
            </a:extLst>
          </p:cNvPr>
          <p:cNvSpPr txBox="1"/>
          <p:nvPr/>
        </p:nvSpPr>
        <p:spPr>
          <a:xfrm>
            <a:off x="943896" y="5919019"/>
            <a:ext cx="250722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Job -&gt; CPU</a:t>
            </a:r>
          </a:p>
          <a:p>
            <a:r>
              <a:rPr lang="en-US" dirty="0"/>
              <a:t>0.5s</a:t>
            </a:r>
          </a:p>
          <a:p>
            <a:r>
              <a:rPr lang="en-US" dirty="0"/>
              <a:t>0.05s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0842AD61-FFFE-F82A-7390-DF2FED9B3BDD}"/>
              </a:ext>
            </a:extLst>
          </p:cNvPr>
          <p:cNvSpPr/>
          <p:nvPr/>
        </p:nvSpPr>
        <p:spPr>
          <a:xfrm>
            <a:off x="7998543" y="5868628"/>
            <a:ext cx="2585884" cy="72758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ESP32 </a:t>
            </a:r>
          </a:p>
        </p:txBody>
      </p:sp>
    </p:spTree>
    <p:extLst>
      <p:ext uri="{BB962C8B-B14F-4D97-AF65-F5344CB8AC3E}">
        <p14:creationId xmlns:p14="http://schemas.microsoft.com/office/powerpoint/2010/main" val="1262351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F4F916-83BB-24F4-1EB5-434E26E2DC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Rectangle 58">
            <a:extLst>
              <a:ext uri="{FF2B5EF4-FFF2-40B4-BE49-F238E27FC236}">
                <a16:creationId xmlns:a16="http://schemas.microsoft.com/office/drawing/2014/main" id="{A42CC06D-9A14-DF7A-05CD-979C108C6D36}"/>
              </a:ext>
            </a:extLst>
          </p:cNvPr>
          <p:cNvSpPr/>
          <p:nvPr/>
        </p:nvSpPr>
        <p:spPr>
          <a:xfrm>
            <a:off x="3322078" y="2344996"/>
            <a:ext cx="1054197" cy="4028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L2</a:t>
            </a:r>
          </a:p>
          <a:p>
            <a:pPr algn="ctr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5948B60-A0CE-9733-A69B-D531B79F99DA}"/>
              </a:ext>
            </a:extLst>
          </p:cNvPr>
          <p:cNvSpPr/>
          <p:nvPr/>
        </p:nvSpPr>
        <p:spPr>
          <a:xfrm>
            <a:off x="1524000" y="2107749"/>
            <a:ext cx="1759974" cy="1887791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CPU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125813B-ABD8-D0A4-889E-0E10F83AB9F0}"/>
              </a:ext>
            </a:extLst>
          </p:cNvPr>
          <p:cNvSpPr/>
          <p:nvPr/>
        </p:nvSpPr>
        <p:spPr>
          <a:xfrm>
            <a:off x="4640826" y="68827"/>
            <a:ext cx="5759864" cy="2236124"/>
          </a:xfrm>
          <a:prstGeom prst="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Memory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0535E6-4D18-41A6-9986-AF61C011E431}"/>
              </a:ext>
            </a:extLst>
          </p:cNvPr>
          <p:cNvSpPr/>
          <p:nvPr/>
        </p:nvSpPr>
        <p:spPr>
          <a:xfrm>
            <a:off x="4564626" y="4503173"/>
            <a:ext cx="1371600" cy="973394"/>
          </a:xfrm>
          <a:prstGeom prst="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I/O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F7010C9-EBAC-F9D0-6533-6029E3B6179F}"/>
              </a:ext>
            </a:extLst>
          </p:cNvPr>
          <p:cNvSpPr/>
          <p:nvPr/>
        </p:nvSpPr>
        <p:spPr>
          <a:xfrm>
            <a:off x="6233653" y="4513006"/>
            <a:ext cx="1371600" cy="973394"/>
          </a:xfrm>
          <a:prstGeom prst="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I/O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43F1024-ACE9-AFC9-2A86-7079F3F95FA1}"/>
              </a:ext>
            </a:extLst>
          </p:cNvPr>
          <p:cNvSpPr/>
          <p:nvPr/>
        </p:nvSpPr>
        <p:spPr>
          <a:xfrm>
            <a:off x="7880557" y="4513006"/>
            <a:ext cx="1371600" cy="973394"/>
          </a:xfrm>
          <a:prstGeom prst="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I/O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21A0183-2597-D342-FF7D-D26ECB381C3A}"/>
              </a:ext>
            </a:extLst>
          </p:cNvPr>
          <p:cNvSpPr/>
          <p:nvPr/>
        </p:nvSpPr>
        <p:spPr>
          <a:xfrm>
            <a:off x="9507796" y="4513006"/>
            <a:ext cx="1371600" cy="973394"/>
          </a:xfrm>
          <a:prstGeom prst="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I/O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717BC24-4C0B-DEA9-87EF-C83F8A5B638D}"/>
              </a:ext>
            </a:extLst>
          </p:cNvPr>
          <p:cNvCxnSpPr/>
          <p:nvPr/>
        </p:nvCxnSpPr>
        <p:spPr>
          <a:xfrm>
            <a:off x="3283974" y="2821858"/>
            <a:ext cx="7855974" cy="0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AEEEC72-26FB-327E-1815-8792F6D255DB}"/>
              </a:ext>
            </a:extLst>
          </p:cNvPr>
          <p:cNvCxnSpPr/>
          <p:nvPr/>
        </p:nvCxnSpPr>
        <p:spPr>
          <a:xfrm>
            <a:off x="3283974" y="3220065"/>
            <a:ext cx="7855974" cy="0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6D43E33-69A1-27D9-773D-3B6DD9F3F3AC}"/>
              </a:ext>
            </a:extLst>
          </p:cNvPr>
          <p:cNvCxnSpPr/>
          <p:nvPr/>
        </p:nvCxnSpPr>
        <p:spPr>
          <a:xfrm>
            <a:off x="3283974" y="3706761"/>
            <a:ext cx="7855974" cy="0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06CEB464-F53C-6BEC-DC51-A394210EE7CC}"/>
              </a:ext>
            </a:extLst>
          </p:cNvPr>
          <p:cNvCxnSpPr>
            <a:cxnSpLocks/>
            <a:endCxn id="3" idx="2"/>
          </p:cNvCxnSpPr>
          <p:nvPr/>
        </p:nvCxnSpPr>
        <p:spPr>
          <a:xfrm flipV="1">
            <a:off x="7474355" y="2304951"/>
            <a:ext cx="46403" cy="5169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EF7B8B3-B217-3FEE-3419-4CBC67CA3A2E}"/>
              </a:ext>
            </a:extLst>
          </p:cNvPr>
          <p:cNvCxnSpPr>
            <a:cxnSpLocks/>
            <a:endCxn id="6" idx="0"/>
          </p:cNvCxnSpPr>
          <p:nvPr/>
        </p:nvCxnSpPr>
        <p:spPr>
          <a:xfrm>
            <a:off x="5250426" y="3696928"/>
            <a:ext cx="0" cy="8062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88FA895-92A9-A508-4EF5-6B4CB3B8337A}"/>
              </a:ext>
            </a:extLst>
          </p:cNvPr>
          <p:cNvCxnSpPr>
            <a:cxnSpLocks/>
            <a:endCxn id="7" idx="0"/>
          </p:cNvCxnSpPr>
          <p:nvPr/>
        </p:nvCxnSpPr>
        <p:spPr>
          <a:xfrm>
            <a:off x="6919453" y="3706761"/>
            <a:ext cx="0" cy="8062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9CCDB361-1B13-24FC-0C05-62D14766D458}"/>
              </a:ext>
            </a:extLst>
          </p:cNvPr>
          <p:cNvCxnSpPr>
            <a:cxnSpLocks/>
          </p:cNvCxnSpPr>
          <p:nvPr/>
        </p:nvCxnSpPr>
        <p:spPr>
          <a:xfrm>
            <a:off x="8556524" y="3706761"/>
            <a:ext cx="0" cy="8062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34137BD-3A79-1D98-B8C7-6C0747FA66CB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10193596" y="3706761"/>
            <a:ext cx="0" cy="8062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E6F6EF56-6876-2B50-3085-3C07663F9EDD}"/>
              </a:ext>
            </a:extLst>
          </p:cNvPr>
          <p:cNvSpPr txBox="1"/>
          <p:nvPr/>
        </p:nvSpPr>
        <p:spPr>
          <a:xfrm>
            <a:off x="10618838" y="2491855"/>
            <a:ext cx="10815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data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3D18752-7AED-2E73-8995-3D0842AB450C}"/>
              </a:ext>
            </a:extLst>
          </p:cNvPr>
          <p:cNvSpPr txBox="1"/>
          <p:nvPr/>
        </p:nvSpPr>
        <p:spPr>
          <a:xfrm>
            <a:off x="10618838" y="2887915"/>
            <a:ext cx="10815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address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25F7C68-7B81-1635-2179-2D1BB70265ED}"/>
              </a:ext>
            </a:extLst>
          </p:cNvPr>
          <p:cNvSpPr txBox="1"/>
          <p:nvPr/>
        </p:nvSpPr>
        <p:spPr>
          <a:xfrm>
            <a:off x="10648332" y="3377379"/>
            <a:ext cx="10815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control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926E4179-B9DE-933B-3F27-FFCAE35CA328}"/>
              </a:ext>
            </a:extLst>
          </p:cNvPr>
          <p:cNvCxnSpPr/>
          <p:nvPr/>
        </p:nvCxnSpPr>
        <p:spPr>
          <a:xfrm>
            <a:off x="5643716" y="2821858"/>
            <a:ext cx="0" cy="16911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0CBF160-F467-67E8-D095-8238E8B1406F}"/>
              </a:ext>
            </a:extLst>
          </p:cNvPr>
          <p:cNvCxnSpPr/>
          <p:nvPr/>
        </p:nvCxnSpPr>
        <p:spPr>
          <a:xfrm>
            <a:off x="6749845" y="2821858"/>
            <a:ext cx="0" cy="16911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F0876E50-92D0-0FF4-240D-729BD8AC3C92}"/>
              </a:ext>
            </a:extLst>
          </p:cNvPr>
          <p:cNvCxnSpPr/>
          <p:nvPr/>
        </p:nvCxnSpPr>
        <p:spPr>
          <a:xfrm>
            <a:off x="8396748" y="2821858"/>
            <a:ext cx="0" cy="16911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3C324A0B-DB03-C1EA-6418-D52A754A5B7C}"/>
              </a:ext>
            </a:extLst>
          </p:cNvPr>
          <p:cNvCxnSpPr/>
          <p:nvPr/>
        </p:nvCxnSpPr>
        <p:spPr>
          <a:xfrm>
            <a:off x="10023986" y="2821858"/>
            <a:ext cx="0" cy="16911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43" name="Rectangle 42">
            <a:extLst>
              <a:ext uri="{FF2B5EF4-FFF2-40B4-BE49-F238E27FC236}">
                <a16:creationId xmlns:a16="http://schemas.microsoft.com/office/drawing/2014/main" id="{A56D26FE-3D9E-E87D-CF11-F6BDCD8566C0}"/>
              </a:ext>
            </a:extLst>
          </p:cNvPr>
          <p:cNvSpPr/>
          <p:nvPr/>
        </p:nvSpPr>
        <p:spPr>
          <a:xfrm>
            <a:off x="1546122" y="4193457"/>
            <a:ext cx="2563765" cy="2664543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E3D0F85A-B3A6-B282-D517-C44233165ED9}"/>
              </a:ext>
            </a:extLst>
          </p:cNvPr>
          <p:cNvCxnSpPr>
            <a:cxnSpLocks/>
            <a:stCxn id="2" idx="2"/>
            <a:endCxn id="43" idx="0"/>
          </p:cNvCxnSpPr>
          <p:nvPr/>
        </p:nvCxnSpPr>
        <p:spPr>
          <a:xfrm>
            <a:off x="2403987" y="3995540"/>
            <a:ext cx="424018" cy="1979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F9298F10-50A1-F39D-8730-8D1C85D72BFF}"/>
              </a:ext>
            </a:extLst>
          </p:cNvPr>
          <p:cNvSpPr/>
          <p:nvPr/>
        </p:nvSpPr>
        <p:spPr>
          <a:xfrm>
            <a:off x="2379406" y="4354418"/>
            <a:ext cx="1079092" cy="6139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ALU</a:t>
            </a:r>
          </a:p>
          <a:p>
            <a:pPr algn="ctr"/>
            <a:r>
              <a:rPr lang="en-US" dirty="0"/>
              <a:t>+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E0C3861F-732F-5F4D-72E9-2524DF64C09B}"/>
              </a:ext>
            </a:extLst>
          </p:cNvPr>
          <p:cNvSpPr/>
          <p:nvPr/>
        </p:nvSpPr>
        <p:spPr>
          <a:xfrm>
            <a:off x="2088127" y="4989873"/>
            <a:ext cx="1539975" cy="820991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CU:</a:t>
            </a:r>
          </a:p>
          <a:p>
            <a:pPr algn="ctr"/>
            <a:r>
              <a:rPr lang="en-US" dirty="0"/>
              <a:t>int sum = </a:t>
            </a:r>
            <a:r>
              <a:rPr lang="en-US" dirty="0" err="1"/>
              <a:t>x+y</a:t>
            </a:r>
            <a:r>
              <a:rPr lang="en-US" dirty="0"/>
              <a:t>;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BAEA0272-31CB-B7C4-5AF6-DCA831B2D9B4}"/>
              </a:ext>
            </a:extLst>
          </p:cNvPr>
          <p:cNvSpPr/>
          <p:nvPr/>
        </p:nvSpPr>
        <p:spPr>
          <a:xfrm>
            <a:off x="1819588" y="5948516"/>
            <a:ext cx="2201806" cy="820991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CPU memory</a:t>
            </a:r>
          </a:p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6022EB6-B5DC-D912-8B81-2A8D9100E216}"/>
              </a:ext>
            </a:extLst>
          </p:cNvPr>
          <p:cNvSpPr/>
          <p:nvPr/>
        </p:nvSpPr>
        <p:spPr>
          <a:xfrm>
            <a:off x="5240593" y="157317"/>
            <a:ext cx="1995949" cy="1344556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Text</a:t>
            </a:r>
          </a:p>
          <a:p>
            <a:pPr algn="ctr"/>
            <a:r>
              <a:rPr lang="en-US" dirty="0"/>
              <a:t>Int x = 2;</a:t>
            </a:r>
          </a:p>
          <a:p>
            <a:pPr algn="ctr"/>
            <a:r>
              <a:rPr lang="en-US" dirty="0"/>
              <a:t>Int y = 3;</a:t>
            </a:r>
          </a:p>
          <a:p>
            <a:pPr algn="ctr"/>
            <a:r>
              <a:rPr lang="en-US" dirty="0"/>
              <a:t>Int sum  = x + y;</a:t>
            </a:r>
          </a:p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51D41D7-B953-31A8-2015-BBBD9402430F}"/>
              </a:ext>
            </a:extLst>
          </p:cNvPr>
          <p:cNvSpPr/>
          <p:nvPr/>
        </p:nvSpPr>
        <p:spPr>
          <a:xfrm>
            <a:off x="8133120" y="521108"/>
            <a:ext cx="1042219" cy="698083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96D612C-A28D-4853-4308-284852299EAD}"/>
              </a:ext>
            </a:extLst>
          </p:cNvPr>
          <p:cNvSpPr/>
          <p:nvPr/>
        </p:nvSpPr>
        <p:spPr>
          <a:xfrm>
            <a:off x="9252157" y="521109"/>
            <a:ext cx="1042219" cy="698083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bss</a:t>
            </a:r>
            <a:endParaRPr lang="en-US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C9C4698-8BEB-EA0C-4744-6491F47F126B}"/>
              </a:ext>
            </a:extLst>
          </p:cNvPr>
          <p:cNvSpPr/>
          <p:nvPr/>
        </p:nvSpPr>
        <p:spPr>
          <a:xfrm>
            <a:off x="5377630" y="1564566"/>
            <a:ext cx="3178894" cy="698083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stack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5B4F104-7209-F2FB-6D03-FA8ABB4E9A23}"/>
              </a:ext>
            </a:extLst>
          </p:cNvPr>
          <p:cNvSpPr/>
          <p:nvPr/>
        </p:nvSpPr>
        <p:spPr>
          <a:xfrm>
            <a:off x="8914177" y="1425329"/>
            <a:ext cx="1042219" cy="698083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heap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6200B784-847F-29CC-6FED-F31AC03C74CF}"/>
              </a:ext>
            </a:extLst>
          </p:cNvPr>
          <p:cNvSpPr/>
          <p:nvPr/>
        </p:nvSpPr>
        <p:spPr>
          <a:xfrm>
            <a:off x="6489595" y="1647534"/>
            <a:ext cx="737421" cy="426433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y = 3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3A851F6-99CF-5122-120D-71203A12A0DC}"/>
              </a:ext>
            </a:extLst>
          </p:cNvPr>
          <p:cNvSpPr/>
          <p:nvPr/>
        </p:nvSpPr>
        <p:spPr>
          <a:xfrm>
            <a:off x="1908074" y="6180847"/>
            <a:ext cx="737421" cy="42643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 = 2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A415E958-A7D4-67DA-82FC-D2F7AFABD3DB}"/>
              </a:ext>
            </a:extLst>
          </p:cNvPr>
          <p:cNvSpPr/>
          <p:nvPr/>
        </p:nvSpPr>
        <p:spPr>
          <a:xfrm>
            <a:off x="2684823" y="6145794"/>
            <a:ext cx="737421" cy="426433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y = 3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3B8CD768-BFF3-F9B7-D9D9-DC8C0006C514}"/>
              </a:ext>
            </a:extLst>
          </p:cNvPr>
          <p:cNvSpPr/>
          <p:nvPr/>
        </p:nvSpPr>
        <p:spPr>
          <a:xfrm>
            <a:off x="7463607" y="1681316"/>
            <a:ext cx="995528" cy="344119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Sum = 5 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F5B0559-0039-A01F-CDA7-8F739BB9CA1E}"/>
              </a:ext>
            </a:extLst>
          </p:cNvPr>
          <p:cNvSpPr txBox="1"/>
          <p:nvPr/>
        </p:nvSpPr>
        <p:spPr>
          <a:xfrm>
            <a:off x="119844" y="-47077"/>
            <a:ext cx="3626247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fCPU</a:t>
            </a:r>
            <a:r>
              <a:rPr lang="en-US" dirty="0"/>
              <a:t> &gt;&gt;&gt; </a:t>
            </a:r>
            <a:r>
              <a:rPr lang="en-US" dirty="0" err="1"/>
              <a:t>fRAM</a:t>
            </a:r>
            <a:endParaRPr lang="en-US" dirty="0"/>
          </a:p>
          <a:p>
            <a:pPr marL="285750" indent="-285750">
              <a:buFont typeface="Symbol" panose="05050102010706020507" pitchFamily="18" charset="2"/>
              <a:buChar char="Þ"/>
            </a:pPr>
            <a:r>
              <a:rPr lang="en-US" dirty="0"/>
              <a:t>von-</a:t>
            </a:r>
            <a:r>
              <a:rPr lang="en-US" dirty="0" err="1"/>
              <a:t>neuman</a:t>
            </a:r>
            <a:r>
              <a:rPr lang="en-US" dirty="0"/>
              <a:t> bottle-neck</a:t>
            </a:r>
          </a:p>
          <a:p>
            <a:pPr marL="285750" indent="-285750">
              <a:buFont typeface="Symbol" panose="05050102010706020507" pitchFamily="18" charset="2"/>
              <a:buChar char="Þ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New ram type</a:t>
            </a:r>
          </a:p>
          <a:p>
            <a:r>
              <a:rPr lang="en-US" dirty="0"/>
              <a:t>DDR2, R3, R4, R5 </a:t>
            </a:r>
          </a:p>
          <a:p>
            <a:r>
              <a:rPr lang="en-US" dirty="0"/>
              <a:t>2k6, 3200…..</a:t>
            </a:r>
          </a:p>
          <a:p>
            <a:r>
              <a:rPr lang="en-US" dirty="0"/>
              <a:t>2. Cache L1, L2, L3</a:t>
            </a:r>
          </a:p>
          <a:p>
            <a:r>
              <a:rPr lang="en-US" dirty="0"/>
              <a:t>3. multi-thread</a:t>
            </a:r>
          </a:p>
          <a:p>
            <a:pPr marL="285750" indent="-285750">
              <a:buFont typeface="Wingdings" panose="05000000000000000000" pitchFamily="2" charset="2"/>
              <a:buChar char="è"/>
            </a:pPr>
            <a:r>
              <a:rPr lang="en-US" dirty="0"/>
              <a:t>CPU </a:t>
            </a:r>
            <a:r>
              <a:rPr lang="en-US" dirty="0" err="1"/>
              <a:t>làm</a:t>
            </a:r>
            <a:r>
              <a:rPr lang="en-US" dirty="0"/>
              <a:t> 1 </a:t>
            </a:r>
            <a:r>
              <a:rPr lang="en-US" dirty="0" err="1"/>
              <a:t>công</a:t>
            </a:r>
            <a:r>
              <a:rPr lang="en-US" dirty="0"/>
              <a:t> </a:t>
            </a:r>
            <a:r>
              <a:rPr lang="en-US" dirty="0" err="1"/>
              <a:t>việc</a:t>
            </a:r>
            <a:r>
              <a:rPr lang="en-US" dirty="0"/>
              <a:t> </a:t>
            </a:r>
            <a:r>
              <a:rPr lang="en-US" dirty="0" err="1"/>
              <a:t>khác</a:t>
            </a:r>
            <a:endParaRPr lang="en-US" dirty="0"/>
          </a:p>
          <a:p>
            <a:pPr marL="285750" indent="-285750">
              <a:buFont typeface="Wingdings" panose="05000000000000000000" pitchFamily="2" charset="2"/>
              <a:buChar char="è"/>
            </a:pPr>
            <a:endParaRPr lang="en-US" dirty="0"/>
          </a:p>
          <a:p>
            <a:r>
              <a:rPr lang="en-US" dirty="0"/>
              <a:t>4. New architecture: Harvard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1A15C1C3-EED8-EFF9-50D6-C74DF4B65780}"/>
              </a:ext>
            </a:extLst>
          </p:cNvPr>
          <p:cNvSpPr/>
          <p:nvPr/>
        </p:nvSpPr>
        <p:spPr>
          <a:xfrm>
            <a:off x="2239312" y="3746710"/>
            <a:ext cx="1026238" cy="1550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L1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F3811E46-1992-4929-0660-D720F763F90F}"/>
              </a:ext>
            </a:extLst>
          </p:cNvPr>
          <p:cNvSpPr/>
          <p:nvPr/>
        </p:nvSpPr>
        <p:spPr>
          <a:xfrm>
            <a:off x="4626078" y="1621549"/>
            <a:ext cx="1426896" cy="6980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L3</a:t>
            </a:r>
          </a:p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8872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159294-BF09-8E02-0237-1BE8EF4365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1FD9AF8-58B2-3139-0FD1-5E3986DD2708}"/>
              </a:ext>
            </a:extLst>
          </p:cNvPr>
          <p:cNvSpPr/>
          <p:nvPr/>
        </p:nvSpPr>
        <p:spPr>
          <a:xfrm>
            <a:off x="6464710" y="3208962"/>
            <a:ext cx="1759974" cy="1887791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CPU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7453EB5-FEAC-E8A0-E0FA-1151D8025576}"/>
              </a:ext>
            </a:extLst>
          </p:cNvPr>
          <p:cNvSpPr/>
          <p:nvPr/>
        </p:nvSpPr>
        <p:spPr>
          <a:xfrm>
            <a:off x="4640826" y="68827"/>
            <a:ext cx="5759864" cy="2236124"/>
          </a:xfrm>
          <a:prstGeom prst="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Data Memory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DE52019-9A63-296D-6162-57DDA590865E}"/>
              </a:ext>
            </a:extLst>
          </p:cNvPr>
          <p:cNvSpPr/>
          <p:nvPr/>
        </p:nvSpPr>
        <p:spPr>
          <a:xfrm>
            <a:off x="5034117" y="5646807"/>
            <a:ext cx="4621160" cy="896556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Program memory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E27CF75-9716-06AD-C08B-634298904F5D}"/>
              </a:ext>
            </a:extLst>
          </p:cNvPr>
          <p:cNvSpPr/>
          <p:nvPr/>
        </p:nvSpPr>
        <p:spPr>
          <a:xfrm>
            <a:off x="6494207" y="314637"/>
            <a:ext cx="1307690" cy="707913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E9BB5AA-7A0B-B245-D61F-6DC1EAD9216D}"/>
              </a:ext>
            </a:extLst>
          </p:cNvPr>
          <p:cNvSpPr/>
          <p:nvPr/>
        </p:nvSpPr>
        <p:spPr>
          <a:xfrm>
            <a:off x="8003459" y="314637"/>
            <a:ext cx="1307690" cy="70791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bss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A9EDB99-F4D1-5C52-BB3C-255DDA429639}"/>
              </a:ext>
            </a:extLst>
          </p:cNvPr>
          <p:cNvSpPr/>
          <p:nvPr/>
        </p:nvSpPr>
        <p:spPr>
          <a:xfrm>
            <a:off x="6558116" y="1399836"/>
            <a:ext cx="1307690" cy="70791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stack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2DEE583-586D-ABB2-2B8D-21A04562E484}"/>
              </a:ext>
            </a:extLst>
          </p:cNvPr>
          <p:cNvSpPr/>
          <p:nvPr/>
        </p:nvSpPr>
        <p:spPr>
          <a:xfrm>
            <a:off x="8224684" y="1351932"/>
            <a:ext cx="1307690" cy="70791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heap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37C3CEB-2FDD-8835-ADEB-AE2C2921151B}"/>
              </a:ext>
            </a:extLst>
          </p:cNvPr>
          <p:cNvCxnSpPr/>
          <p:nvPr/>
        </p:nvCxnSpPr>
        <p:spPr>
          <a:xfrm flipV="1">
            <a:off x="7049729" y="2304951"/>
            <a:ext cx="0" cy="9396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3720EFE-A27C-015A-EEBA-51CCF5BDF0D7}"/>
              </a:ext>
            </a:extLst>
          </p:cNvPr>
          <p:cNvCxnSpPr/>
          <p:nvPr/>
        </p:nvCxnSpPr>
        <p:spPr>
          <a:xfrm flipV="1">
            <a:off x="7520758" y="2302182"/>
            <a:ext cx="0" cy="9396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166F55D6-44B4-2604-19AF-0AE0EB2EEC01}"/>
              </a:ext>
            </a:extLst>
          </p:cNvPr>
          <p:cNvCxnSpPr/>
          <p:nvPr/>
        </p:nvCxnSpPr>
        <p:spPr>
          <a:xfrm flipV="1">
            <a:off x="8003459" y="2302182"/>
            <a:ext cx="0" cy="9396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748CCA35-C632-7084-F364-A6CF8CC51B2A}"/>
              </a:ext>
            </a:extLst>
          </p:cNvPr>
          <p:cNvCxnSpPr/>
          <p:nvPr/>
        </p:nvCxnSpPr>
        <p:spPr>
          <a:xfrm>
            <a:off x="7049729" y="5096753"/>
            <a:ext cx="0" cy="5500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39593450-EED9-FAE0-FA96-1C3AA5D6AD43}"/>
              </a:ext>
            </a:extLst>
          </p:cNvPr>
          <p:cNvCxnSpPr/>
          <p:nvPr/>
        </p:nvCxnSpPr>
        <p:spPr>
          <a:xfrm>
            <a:off x="7339781" y="5096753"/>
            <a:ext cx="0" cy="5500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9758CA42-E632-6A28-F05D-BB21A7D3EAC3}"/>
              </a:ext>
            </a:extLst>
          </p:cNvPr>
          <p:cNvCxnSpPr/>
          <p:nvPr/>
        </p:nvCxnSpPr>
        <p:spPr>
          <a:xfrm>
            <a:off x="7708491" y="5096753"/>
            <a:ext cx="0" cy="5500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14118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147</TotalTime>
  <Words>374</Words>
  <Application>Microsoft Office PowerPoint</Application>
  <PresentationFormat>Widescreen</PresentationFormat>
  <Paragraphs>142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Aptos</vt:lpstr>
      <vt:lpstr>Aptos Display</vt:lpstr>
      <vt:lpstr>Arial</vt:lpstr>
      <vt:lpstr>Symbol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Bùi Thu Hiền</dc:creator>
  <cp:lastModifiedBy>Toàn Ngô</cp:lastModifiedBy>
  <cp:revision>10</cp:revision>
  <dcterms:created xsi:type="dcterms:W3CDTF">2024-12-24T11:28:00Z</dcterms:created>
  <dcterms:modified xsi:type="dcterms:W3CDTF">2026-02-02T14:13:21Z</dcterms:modified>
</cp:coreProperties>
</file>