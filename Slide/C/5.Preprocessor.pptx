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3" r:id="rId3"/>
    <p:sldId id="294" r:id="rId4"/>
    <p:sldId id="295" r:id="rId5"/>
    <p:sldId id="296" r:id="rId6"/>
    <p:sldId id="297" r:id="rId7"/>
    <p:sldId id="292" r:id="rId8"/>
    <p:sldId id="28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CFA0"/>
    <a:srgbClr val="EF9C66"/>
    <a:srgbClr val="F4DEB3"/>
    <a:srgbClr val="0D4E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34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54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7017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7229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11810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621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6833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194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875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720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0560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95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A3AE87-C17F-4F2C-92FF-7FE21F8A66BE}" type="datetimeFigureOut">
              <a:rPr lang="en-US" smtClean="0"/>
              <a:t>11/18/2024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8AF75-5B80-42A1-B7B9-E3F74B41AF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869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Lesson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D3C42D-36A3-F27E-0EA8-23CB65CCC6BB}"/>
              </a:ext>
            </a:extLst>
          </p:cNvPr>
          <p:cNvSpPr txBox="1"/>
          <p:nvPr/>
        </p:nvSpPr>
        <p:spPr>
          <a:xfrm>
            <a:off x="499933" y="2305050"/>
            <a:ext cx="10387142" cy="353943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Preprocessor directive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Macro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File inclusion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Conditional compilation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Other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Layer concept</a:t>
            </a:r>
          </a:p>
        </p:txBody>
      </p:sp>
    </p:spTree>
    <p:extLst>
      <p:ext uri="{BB962C8B-B14F-4D97-AF65-F5344CB8AC3E}">
        <p14:creationId xmlns:p14="http://schemas.microsoft.com/office/powerpoint/2010/main" val="38288502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02C943-7F62-307B-ACFA-A87008896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84D6BBF-ECC7-CDAE-10F7-77771676827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B4770C2C-4DB4-49A5-043E-788603BF4B01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1.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D7C9A08-62AD-69AE-A11A-DF0BD47F771C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Review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 build process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 memory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Exercise: create asm file use gcc</a:t>
            </a:r>
          </a:p>
        </p:txBody>
      </p:sp>
    </p:spTree>
    <p:extLst>
      <p:ext uri="{BB962C8B-B14F-4D97-AF65-F5344CB8AC3E}">
        <p14:creationId xmlns:p14="http://schemas.microsoft.com/office/powerpoint/2010/main" val="3370025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AD76B-2853-99A3-F478-A61C2F39A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9A308D2-C2D8-0ADF-4B0C-F5649B0F6D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018A28-221B-B2DE-80A2-EC3222B2258E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2. Macro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4B72B9-B6ED-F6A8-750B-1150BD699773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Purpose of macro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Affect C build process phase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Function-like macro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Compare: function vs function-like macro</a:t>
            </a:r>
          </a:p>
        </p:txBody>
      </p:sp>
    </p:spTree>
    <p:extLst>
      <p:ext uri="{BB962C8B-B14F-4D97-AF65-F5344CB8AC3E}">
        <p14:creationId xmlns:p14="http://schemas.microsoft.com/office/powerpoint/2010/main" val="32461617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1E19EC-9991-0C9B-ECBD-F3850AE2FB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234C98B-8CF9-CEE5-EC01-926766A568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DF84CEB-2F54-DD59-9675-3488B37361A2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3. File inclusion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DE0936D-D01E-A474-28C7-189AE869524D}"/>
              </a:ext>
            </a:extLst>
          </p:cNvPr>
          <p:cNvSpPr txBox="1"/>
          <p:nvPr/>
        </p:nvSpPr>
        <p:spPr>
          <a:xfrm>
            <a:off x="499933" y="2305050"/>
            <a:ext cx="10387142" cy="2554545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Build-in: #include &lt;file.h&gt;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User-defined: #include “file.h”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Practice with array exercise: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Create array lib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/>
              <a:t>Main use array lib</a:t>
            </a:r>
          </a:p>
        </p:txBody>
      </p:sp>
    </p:spTree>
    <p:extLst>
      <p:ext uri="{BB962C8B-B14F-4D97-AF65-F5344CB8AC3E}">
        <p14:creationId xmlns:p14="http://schemas.microsoft.com/office/powerpoint/2010/main" val="32094626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DE3F84-2755-E570-972A-AA2B75DCF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377FA3D-E72C-E58E-9061-5F6C738CF3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25DE9FF-BEFE-0469-105C-566E85E4CDCC}"/>
              </a:ext>
            </a:extLst>
          </p:cNvPr>
          <p:cNvSpPr txBox="1"/>
          <p:nvPr/>
        </p:nvSpPr>
        <p:spPr>
          <a:xfrm>
            <a:off x="499932" y="1406106"/>
            <a:ext cx="6478837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Conditional compilation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C21CA9-37CF-7DBF-C83C-92D13D4357E1}"/>
              </a:ext>
            </a:extLst>
          </p:cNvPr>
          <p:cNvSpPr txBox="1"/>
          <p:nvPr/>
        </p:nvSpPr>
        <p:spPr>
          <a:xfrm>
            <a:off x="499933" y="2305050"/>
            <a:ext cx="10387142" cy="420115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algn="l" fontAlgn="base">
              <a:spcAft>
                <a:spcPts val="1800"/>
              </a:spcAft>
              <a:buFont typeface="+mj-lt"/>
              <a:buAutoNum type="arabicPeriod"/>
            </a:pPr>
            <a:r>
              <a:rPr lang="en-US" sz="3200" b="1" i="0">
                <a:solidFill>
                  <a:srgbClr val="273239"/>
                </a:solidFill>
                <a:effectLst/>
                <a:latin typeface="Nunito" pitchFamily="2" charset="0"/>
              </a:rPr>
              <a:t>#if Directive</a:t>
            </a:r>
            <a:endParaRPr lang="en-US" sz="3200" b="0" i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+mj-lt"/>
              <a:buAutoNum type="arabicPeriod" startAt="2"/>
            </a:pPr>
            <a:r>
              <a:rPr lang="en-US" sz="3200" b="1" i="0">
                <a:solidFill>
                  <a:srgbClr val="273239"/>
                </a:solidFill>
                <a:effectLst/>
                <a:latin typeface="Nunito" pitchFamily="2" charset="0"/>
              </a:rPr>
              <a:t>#ifdef Directive</a:t>
            </a:r>
            <a:endParaRPr lang="en-US" sz="3200" b="0" i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+mj-lt"/>
              <a:buAutoNum type="arabicPeriod" startAt="3"/>
            </a:pPr>
            <a:r>
              <a:rPr lang="en-US" sz="3200" b="1" i="0">
                <a:solidFill>
                  <a:srgbClr val="273239"/>
                </a:solidFill>
                <a:effectLst/>
                <a:latin typeface="Nunito" pitchFamily="2" charset="0"/>
              </a:rPr>
              <a:t>#ifndef Directive</a:t>
            </a:r>
            <a:endParaRPr lang="en-US" sz="3200" b="0" i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+mj-lt"/>
              <a:buAutoNum type="arabicPeriod" startAt="4"/>
            </a:pPr>
            <a:r>
              <a:rPr lang="en-US" sz="3200" b="1" i="0">
                <a:solidFill>
                  <a:srgbClr val="273239"/>
                </a:solidFill>
                <a:effectLst/>
                <a:latin typeface="Nunito" pitchFamily="2" charset="0"/>
              </a:rPr>
              <a:t>#else Directive</a:t>
            </a:r>
            <a:endParaRPr lang="en-US" sz="3200" b="0" i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+mj-lt"/>
              <a:buAutoNum type="arabicPeriod" startAt="5"/>
            </a:pPr>
            <a:r>
              <a:rPr lang="en-US" sz="3200" b="1" i="0">
                <a:solidFill>
                  <a:srgbClr val="273239"/>
                </a:solidFill>
                <a:effectLst/>
                <a:latin typeface="Nunito" pitchFamily="2" charset="0"/>
              </a:rPr>
              <a:t>#elif Directive</a:t>
            </a:r>
            <a:endParaRPr lang="en-US" sz="3200" b="0" i="0">
              <a:solidFill>
                <a:srgbClr val="273239"/>
              </a:solidFill>
              <a:effectLst/>
              <a:latin typeface="Nunito" pitchFamily="2" charset="0"/>
            </a:endParaRPr>
          </a:p>
          <a:p>
            <a:pPr algn="l" fontAlgn="base">
              <a:spcAft>
                <a:spcPts val="1800"/>
              </a:spcAft>
              <a:buFont typeface="+mj-lt"/>
              <a:buAutoNum type="arabicPeriod" startAt="6"/>
            </a:pPr>
            <a:r>
              <a:rPr lang="en-US" sz="3200" b="1" i="0">
                <a:solidFill>
                  <a:srgbClr val="273239"/>
                </a:solidFill>
                <a:effectLst/>
                <a:latin typeface="Nunito" pitchFamily="2" charset="0"/>
              </a:rPr>
              <a:t>#endif Directive</a:t>
            </a:r>
            <a:endParaRPr lang="en-US" sz="3200" b="0" i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37866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6E5C6-D865-8E3A-5E18-2053790B1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BA882687-8126-757C-2015-C9B9F2FCC4A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B58EA2-FDF4-ABE9-6718-B48571460963}"/>
              </a:ext>
            </a:extLst>
          </p:cNvPr>
          <p:cNvSpPr txBox="1"/>
          <p:nvPr/>
        </p:nvSpPr>
        <p:spPr>
          <a:xfrm>
            <a:off x="499932" y="1406106"/>
            <a:ext cx="6478837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5. Other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84393E-903E-6775-C4D5-0EF05951965F}"/>
              </a:ext>
            </a:extLst>
          </p:cNvPr>
          <p:cNvSpPr txBox="1"/>
          <p:nvPr/>
        </p:nvSpPr>
        <p:spPr>
          <a:xfrm>
            <a:off x="499933" y="2305050"/>
            <a:ext cx="10387142" cy="2754600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457200" indent="-4572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273239"/>
                </a:solidFill>
                <a:latin typeface="Nunito" pitchFamily="2" charset="0"/>
              </a:rPr>
              <a:t>Undef</a:t>
            </a:r>
          </a:p>
          <a:p>
            <a:pPr marL="457200" indent="-4572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273239"/>
                </a:solidFill>
                <a:latin typeface="Nunito" pitchFamily="2" charset="0"/>
              </a:rPr>
              <a:t>Pragma</a:t>
            </a:r>
          </a:p>
          <a:p>
            <a:pPr marL="457200" indent="-4572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>
                <a:solidFill>
                  <a:srgbClr val="273239"/>
                </a:solidFill>
                <a:latin typeface="Nunito" pitchFamily="2" charset="0"/>
              </a:rPr>
              <a:t>Error</a:t>
            </a:r>
          </a:p>
          <a:p>
            <a:pPr marL="457200" indent="-457200" algn="l" fontAlgn="base">
              <a:spcAft>
                <a:spcPts val="1800"/>
              </a:spcAft>
              <a:buFont typeface="Arial" panose="020B0604020202020204" pitchFamily="34" charset="0"/>
              <a:buChar char="•"/>
            </a:pPr>
            <a:r>
              <a:rPr lang="en-US" sz="3200" b="1" i="0">
                <a:solidFill>
                  <a:srgbClr val="273239"/>
                </a:solidFill>
                <a:effectLst/>
                <a:latin typeface="Nunito" pitchFamily="2" charset="0"/>
              </a:rPr>
              <a:t>Warning</a:t>
            </a:r>
            <a:endParaRPr lang="en-US" sz="3200" b="0" i="0">
              <a:solidFill>
                <a:srgbClr val="273239"/>
              </a:solidFill>
              <a:effectLst/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252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24936-7581-0BF7-5232-63C05765C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F9DD15D-F71F-AC67-8A35-BB07EC8D858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4027CF7-3FE9-9540-B1D9-84E43F56112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6. Layer concept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18DE57E-2053-6A42-0688-FB177603A4BF}"/>
              </a:ext>
            </a:extLst>
          </p:cNvPr>
          <p:cNvSpPr txBox="1"/>
          <p:nvPr/>
        </p:nvSpPr>
        <p:spPr>
          <a:xfrm>
            <a:off x="499933" y="2305050"/>
            <a:ext cx="10387142" cy="2062103"/>
          </a:xfrm>
          <a:prstGeom prst="rect">
            <a:avLst/>
          </a:prstGeom>
          <a:solidFill>
            <a:srgbClr val="C8CFA0"/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#include? What is the meaning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Include .h file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Include .c file? Problem?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/>
              <a:t>What is the layer?</a:t>
            </a:r>
          </a:p>
        </p:txBody>
      </p:sp>
    </p:spTree>
    <p:extLst>
      <p:ext uri="{BB962C8B-B14F-4D97-AF65-F5344CB8AC3E}">
        <p14:creationId xmlns:p14="http://schemas.microsoft.com/office/powerpoint/2010/main" val="3786806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17663" y="-89806"/>
            <a:ext cx="12277005" cy="1420585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5A78A34D-0D8C-BD88-B427-6ADAF2538448}"/>
              </a:ext>
            </a:extLst>
          </p:cNvPr>
          <p:cNvSpPr txBox="1"/>
          <p:nvPr/>
        </p:nvSpPr>
        <p:spPr>
          <a:xfrm>
            <a:off x="499933" y="1406106"/>
            <a:ext cx="5520906" cy="707886"/>
          </a:xfrm>
          <a:prstGeom prst="rect">
            <a:avLst/>
          </a:prstGeom>
          <a:solidFill>
            <a:srgbClr val="EF9C66"/>
          </a:solidFill>
        </p:spPr>
        <p:txBody>
          <a:bodyPr wrap="square" rtlCol="0">
            <a:spAutoFit/>
          </a:bodyPr>
          <a:lstStyle/>
          <a:p>
            <a:r>
              <a:rPr lang="en-US" sz="4000"/>
              <a:t>4. Q&amp;A</a:t>
            </a:r>
          </a:p>
        </p:txBody>
      </p:sp>
      <p:pic>
        <p:nvPicPr>
          <p:cNvPr id="4098" name="Picture 2" descr="Q And A Images – Browse 183,804 Stock Photos, Vectors, and Video | Adobe  Stock">
            <a:extLst>
              <a:ext uri="{FF2B5EF4-FFF2-40B4-BE49-F238E27FC236}">
                <a16:creationId xmlns:a16="http://schemas.microsoft.com/office/drawing/2014/main" id="{D3E842B5-2EEE-821D-4C9B-BD7789AC00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588" y="2672032"/>
            <a:ext cx="7800975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2970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Words>144</Words>
  <Application>Microsoft Office PowerPoint</Application>
  <PresentationFormat>Widescreen</PresentationFormat>
  <Paragraphs>42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Nunito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Quan</dc:creator>
  <cp:lastModifiedBy>Kensin Himura</cp:lastModifiedBy>
  <cp:revision>145</cp:revision>
  <dcterms:created xsi:type="dcterms:W3CDTF">2024-01-20T03:37:02Z</dcterms:created>
  <dcterms:modified xsi:type="dcterms:W3CDTF">2024-11-18T14:56:06Z</dcterms:modified>
</cp:coreProperties>
</file>