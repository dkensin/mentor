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7" r:id="rId3"/>
    <p:sldId id="257" r:id="rId4"/>
    <p:sldId id="286" r:id="rId5"/>
    <p:sldId id="258" r:id="rId6"/>
    <p:sldId id="259" r:id="rId7"/>
    <p:sldId id="288" r:id="rId8"/>
    <p:sldId id="260" r:id="rId9"/>
    <p:sldId id="285" r:id="rId10"/>
    <p:sldId id="262" r:id="rId11"/>
    <p:sldId id="263" r:id="rId12"/>
    <p:sldId id="277" r:id="rId13"/>
    <p:sldId id="284" r:id="rId14"/>
    <p:sldId id="28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8CFA0"/>
    <a:srgbClr val="EF9C66"/>
    <a:srgbClr val="F4DEB3"/>
    <a:srgbClr val="0D4E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3" d="100"/>
          <a:sy n="63" d="100"/>
        </p:scale>
        <p:origin x="764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254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701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722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181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621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683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319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875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720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560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952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A3AE87-C17F-4F2C-92FF-7FE21F8A66BE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869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78A34D-0D8C-BD88-B427-6ADAF2538448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/>
              <a:t>Lesson Objective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D3C42D-36A3-F27E-0EA8-23CB65CCC6BB}"/>
              </a:ext>
            </a:extLst>
          </p:cNvPr>
          <p:cNvSpPr txBox="1"/>
          <p:nvPr/>
        </p:nvSpPr>
        <p:spPr>
          <a:xfrm>
            <a:off x="499933" y="2305050"/>
            <a:ext cx="10387142" cy="1569660"/>
          </a:xfrm>
          <a:prstGeom prst="rect">
            <a:avLst/>
          </a:prstGeom>
          <a:solidFill>
            <a:srgbClr val="C8CFA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Introduction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Basic Data Type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Pointer variable</a:t>
            </a:r>
          </a:p>
        </p:txBody>
      </p:sp>
    </p:spTree>
    <p:extLst>
      <p:ext uri="{BB962C8B-B14F-4D97-AF65-F5344CB8AC3E}">
        <p14:creationId xmlns:p14="http://schemas.microsoft.com/office/powerpoint/2010/main" val="3828850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4AD1A1C-533F-F301-8A28-6DBA698AFAF2}"/>
              </a:ext>
            </a:extLst>
          </p:cNvPr>
          <p:cNvSpPr/>
          <p:nvPr/>
        </p:nvSpPr>
        <p:spPr>
          <a:xfrm>
            <a:off x="4421293" y="1367323"/>
            <a:ext cx="3657600" cy="23339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main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EF800AF-B293-DE59-4F23-9191B2FC5FDC}"/>
              </a:ext>
            </a:extLst>
          </p:cNvPr>
          <p:cNvCxnSpPr>
            <a:cxnSpLocks/>
          </p:cNvCxnSpPr>
          <p:nvPr/>
        </p:nvCxnSpPr>
        <p:spPr>
          <a:xfrm flipV="1">
            <a:off x="2462106" y="2048933"/>
            <a:ext cx="1910080" cy="304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F878709-DFED-52DD-A862-AA2C47317DEB}"/>
              </a:ext>
            </a:extLst>
          </p:cNvPr>
          <p:cNvCxnSpPr>
            <a:cxnSpLocks/>
          </p:cNvCxnSpPr>
          <p:nvPr/>
        </p:nvCxnSpPr>
        <p:spPr>
          <a:xfrm flipV="1">
            <a:off x="7623386" y="2079413"/>
            <a:ext cx="2987040" cy="711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B2C00F0-422D-2EB1-8CD5-3ACC114F2301}"/>
              </a:ext>
            </a:extLst>
          </p:cNvPr>
          <p:cNvSpPr txBox="1"/>
          <p:nvPr/>
        </p:nvSpPr>
        <p:spPr>
          <a:xfrm>
            <a:off x="1206499" y="1386126"/>
            <a:ext cx="1432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INPUT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35AD39-0365-5BD7-00C8-22D55B27D699}"/>
              </a:ext>
            </a:extLst>
          </p:cNvPr>
          <p:cNvSpPr txBox="1"/>
          <p:nvPr/>
        </p:nvSpPr>
        <p:spPr>
          <a:xfrm>
            <a:off x="8400626" y="1337733"/>
            <a:ext cx="14325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</a:t>
            </a:r>
          </a:p>
          <a:p>
            <a:r>
              <a:rPr lang="en-US" dirty="0" err="1"/>
              <a:t>printf</a:t>
            </a:r>
            <a:endParaRPr lang="en-US" dirty="0"/>
          </a:p>
          <a:p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C36CFA4-37F2-5194-6A62-329F72C01091}"/>
              </a:ext>
            </a:extLst>
          </p:cNvPr>
          <p:cNvSpPr/>
          <p:nvPr/>
        </p:nvSpPr>
        <p:spPr>
          <a:xfrm>
            <a:off x="5103705" y="1929692"/>
            <a:ext cx="1935057" cy="165001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So_nguyen</a:t>
            </a:r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%d</a:t>
            </a:r>
          </a:p>
          <a:p>
            <a:pPr algn="ctr"/>
            <a:r>
              <a:rPr lang="en-US" dirty="0"/>
              <a:t>%c</a:t>
            </a:r>
          </a:p>
          <a:p>
            <a:pPr algn="ctr"/>
            <a:endParaRPr 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673648E-C247-EB4F-6636-E3C7582F58AD}"/>
              </a:ext>
            </a:extLst>
          </p:cNvPr>
          <p:cNvCxnSpPr>
            <a:cxnSpLocks/>
          </p:cNvCxnSpPr>
          <p:nvPr/>
        </p:nvCxnSpPr>
        <p:spPr>
          <a:xfrm flipH="1">
            <a:off x="1495215" y="1848909"/>
            <a:ext cx="465879" cy="322560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DD94CB3-470F-8F13-566C-FB47F1BAD6D4}"/>
              </a:ext>
            </a:extLst>
          </p:cNvPr>
          <p:cNvCxnSpPr>
            <a:cxnSpLocks/>
          </p:cNvCxnSpPr>
          <p:nvPr/>
        </p:nvCxnSpPr>
        <p:spPr>
          <a:xfrm>
            <a:off x="1350432" y="4514239"/>
            <a:ext cx="7651328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48EFC38-28CA-62A4-92B7-CFE782A3315C}"/>
              </a:ext>
            </a:extLst>
          </p:cNvPr>
          <p:cNvCxnSpPr>
            <a:cxnSpLocks/>
          </p:cNvCxnSpPr>
          <p:nvPr/>
        </p:nvCxnSpPr>
        <p:spPr>
          <a:xfrm>
            <a:off x="1206499" y="5405769"/>
            <a:ext cx="7876541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3A8698A3-CD84-8632-9DF7-B9D00E3B4266}"/>
              </a:ext>
            </a:extLst>
          </p:cNvPr>
          <p:cNvSpPr/>
          <p:nvPr/>
        </p:nvSpPr>
        <p:spPr>
          <a:xfrm>
            <a:off x="4132579" y="4922115"/>
            <a:ext cx="479213" cy="38100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3386115-D363-FE72-12F2-9F7FB9613E84}"/>
              </a:ext>
            </a:extLst>
          </p:cNvPr>
          <p:cNvSpPr/>
          <p:nvPr/>
        </p:nvSpPr>
        <p:spPr>
          <a:xfrm>
            <a:off x="3037840" y="2669496"/>
            <a:ext cx="872067" cy="4346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scanf</a:t>
            </a:r>
            <a:endParaRPr lang="en-US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244E639-CF19-04E6-5C16-602F764985C4}"/>
              </a:ext>
            </a:extLst>
          </p:cNvPr>
          <p:cNvCxnSpPr/>
          <p:nvPr/>
        </p:nvCxnSpPr>
        <p:spPr>
          <a:xfrm flipV="1">
            <a:off x="4190999" y="2150533"/>
            <a:ext cx="1921934" cy="17424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6E7A7532-69D3-7957-7CA4-E68B59301A97}"/>
              </a:ext>
            </a:extLst>
          </p:cNvPr>
          <p:cNvSpPr/>
          <p:nvPr/>
        </p:nvSpPr>
        <p:spPr>
          <a:xfrm>
            <a:off x="3307081" y="4922115"/>
            <a:ext cx="479213" cy="38100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24DBB05-E7AD-D8AE-3264-DF9E71D330AD}"/>
              </a:ext>
            </a:extLst>
          </p:cNvPr>
          <p:cNvSpPr/>
          <p:nvPr/>
        </p:nvSpPr>
        <p:spPr>
          <a:xfrm>
            <a:off x="2482428" y="4845915"/>
            <a:ext cx="499532" cy="4572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07C2ECF-F2F9-7385-70E3-2330547A5D12}"/>
              </a:ext>
            </a:extLst>
          </p:cNvPr>
          <p:cNvSpPr/>
          <p:nvPr/>
        </p:nvSpPr>
        <p:spPr>
          <a:xfrm>
            <a:off x="1807847" y="4633027"/>
            <a:ext cx="499532" cy="4572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%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0EB3A0-0A30-00A5-C416-2CCBA00B3C6B}"/>
              </a:ext>
            </a:extLst>
          </p:cNvPr>
          <p:cNvSpPr/>
          <p:nvPr/>
        </p:nvSpPr>
        <p:spPr>
          <a:xfrm>
            <a:off x="4936489" y="4843425"/>
            <a:ext cx="479213" cy="38100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A11D45-66EB-9019-E157-2C7C2BFABDFD}"/>
              </a:ext>
            </a:extLst>
          </p:cNvPr>
          <p:cNvSpPr/>
          <p:nvPr/>
        </p:nvSpPr>
        <p:spPr>
          <a:xfrm>
            <a:off x="2070102" y="3892973"/>
            <a:ext cx="1195068" cy="434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Getchar</a:t>
            </a:r>
            <a:r>
              <a:rPr lang="en-US" dirty="0"/>
              <a:t>()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8F4DE2-68C3-1A54-11D7-0D84DCAD891A}"/>
              </a:ext>
            </a:extLst>
          </p:cNvPr>
          <p:cNvSpPr/>
          <p:nvPr/>
        </p:nvSpPr>
        <p:spPr>
          <a:xfrm>
            <a:off x="2070102" y="5728577"/>
            <a:ext cx="1195068" cy="4346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Putchar</a:t>
            </a:r>
            <a:r>
              <a:rPr lang="en-US" dirty="0"/>
              <a:t>()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2D54ABF-F667-E88E-DFA6-0DFC02AC6D71}"/>
              </a:ext>
            </a:extLst>
          </p:cNvPr>
          <p:cNvSpPr/>
          <p:nvPr/>
        </p:nvSpPr>
        <p:spPr>
          <a:xfrm>
            <a:off x="8188960" y="4683760"/>
            <a:ext cx="812800" cy="540664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EOF</a:t>
            </a:r>
          </a:p>
        </p:txBody>
      </p:sp>
    </p:spTree>
    <p:extLst>
      <p:ext uri="{BB962C8B-B14F-4D97-AF65-F5344CB8AC3E}">
        <p14:creationId xmlns:p14="http://schemas.microsoft.com/office/powerpoint/2010/main" val="18929509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78A34D-0D8C-BD88-B427-6ADAF2538448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/>
              <a:t>1. Introduction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D3C42D-36A3-F27E-0EA8-23CB65CCC6BB}"/>
              </a:ext>
            </a:extLst>
          </p:cNvPr>
          <p:cNvSpPr txBox="1"/>
          <p:nvPr/>
        </p:nvSpPr>
        <p:spPr>
          <a:xfrm>
            <a:off x="1331782" y="2444750"/>
            <a:ext cx="10938693" cy="3539430"/>
          </a:xfrm>
          <a:prstGeom prst="rect">
            <a:avLst/>
          </a:prstGeom>
          <a:solidFill>
            <a:srgbClr val="C8CFA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Syntax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/>
          </a:p>
          <a:p>
            <a:endParaRPr lang="en-US" sz="32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/>
          </a:p>
          <a:p>
            <a:endParaRPr lang="en-US" sz="32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881EBF-197E-D1E0-2EC0-3B6562725A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42" y="2815629"/>
            <a:ext cx="6246209" cy="29396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3181CFF-9895-56DC-2253-CB59D5D284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9636" y="3429000"/>
            <a:ext cx="3181794" cy="2191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2272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D7708-E890-39FF-ABFB-9C69F1E0E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A9F6092-9C1C-26A4-756D-A5101B40EF8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B17446B-D09F-EDE8-A662-E9D0BDA25501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/>
              <a:t>1. Introduction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826289-8DD5-D551-A296-8C95182EDCE4}"/>
              </a:ext>
            </a:extLst>
          </p:cNvPr>
          <p:cNvSpPr txBox="1"/>
          <p:nvPr/>
        </p:nvSpPr>
        <p:spPr>
          <a:xfrm>
            <a:off x="499932" y="2305050"/>
            <a:ext cx="9060527" cy="4031873"/>
          </a:xfrm>
          <a:prstGeom prst="rect">
            <a:avLst/>
          </a:prstGeom>
          <a:solidFill>
            <a:srgbClr val="C8CFA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How to get input: scanf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How to print to console: printf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/>
          </a:p>
          <a:p>
            <a:endParaRPr lang="en-US" sz="32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/>
          </a:p>
          <a:p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36101832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78A34D-0D8C-BD88-B427-6ADAF2538448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/>
              <a:t>2. Basic data type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D3C42D-36A3-F27E-0EA8-23CB65CCC6BB}"/>
              </a:ext>
            </a:extLst>
          </p:cNvPr>
          <p:cNvSpPr txBox="1"/>
          <p:nvPr/>
        </p:nvSpPr>
        <p:spPr>
          <a:xfrm>
            <a:off x="499932" y="2305050"/>
            <a:ext cx="10938693" cy="3539430"/>
          </a:xfrm>
          <a:prstGeom prst="rect">
            <a:avLst/>
          </a:prstGeom>
          <a:solidFill>
            <a:srgbClr val="C8CFA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Build-in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/>
              <a:t>Basic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/>
              <a:t>Modifier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User-defined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/>
              <a:t>Structure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/>
              <a:t>Enum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/>
              <a:t>Union </a:t>
            </a:r>
          </a:p>
        </p:txBody>
      </p:sp>
    </p:spTree>
    <p:extLst>
      <p:ext uri="{BB962C8B-B14F-4D97-AF65-F5344CB8AC3E}">
        <p14:creationId xmlns:p14="http://schemas.microsoft.com/office/powerpoint/2010/main" val="378553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78A34D-0D8C-BD88-B427-6ADAF2538448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/>
              <a:t>2. Basic data type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9FCB31-71BB-2152-F104-3D13E795A0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4439" y="2663318"/>
            <a:ext cx="7502527" cy="3495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7094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EBB25-D631-79FC-75BC-2EA418F8C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E29EA15-E184-F176-3994-95EC2AD798B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BA68BE6-2AFC-9239-A44E-1A2FA20C98E4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/>
              <a:t>2. Basic data type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120A891-1388-DAA4-B04C-3FE63C187757}"/>
              </a:ext>
            </a:extLst>
          </p:cNvPr>
          <p:cNvSpPr/>
          <p:nvPr/>
        </p:nvSpPr>
        <p:spPr>
          <a:xfrm>
            <a:off x="1046480" y="3352800"/>
            <a:ext cx="1584960" cy="9855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CPU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DE9269-B125-B88D-5BDF-B831D0AAD5BA}"/>
              </a:ext>
            </a:extLst>
          </p:cNvPr>
          <p:cNvSpPr/>
          <p:nvPr/>
        </p:nvSpPr>
        <p:spPr>
          <a:xfrm>
            <a:off x="3561080" y="2467309"/>
            <a:ext cx="1584960" cy="9855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89345C-7F69-E1F0-21B0-1C054C63B80C}"/>
              </a:ext>
            </a:extLst>
          </p:cNvPr>
          <p:cNvSpPr/>
          <p:nvPr/>
        </p:nvSpPr>
        <p:spPr>
          <a:xfrm>
            <a:off x="3169920" y="3845560"/>
            <a:ext cx="2926080" cy="21183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HDD/SSD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DE270D-70A4-1D20-9287-F8838DE49642}"/>
              </a:ext>
            </a:extLst>
          </p:cNvPr>
          <p:cNvSpPr/>
          <p:nvPr/>
        </p:nvSpPr>
        <p:spPr>
          <a:xfrm>
            <a:off x="6020839" y="2860040"/>
            <a:ext cx="1584960" cy="9855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GPU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7D56FD-0011-011B-54BC-D048BF0E4182}"/>
              </a:ext>
            </a:extLst>
          </p:cNvPr>
          <p:cNvSpPr/>
          <p:nvPr/>
        </p:nvSpPr>
        <p:spPr>
          <a:xfrm>
            <a:off x="3779520" y="5206041"/>
            <a:ext cx="1351280" cy="4917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program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B29514-BA16-4EF4-9D3C-AD2035BE3956}"/>
              </a:ext>
            </a:extLst>
          </p:cNvPr>
          <p:cNvSpPr/>
          <p:nvPr/>
        </p:nvSpPr>
        <p:spPr>
          <a:xfrm>
            <a:off x="3677920" y="4045617"/>
            <a:ext cx="1351280" cy="4917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hello.c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98332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78A34D-0D8C-BD88-B427-6ADAF2538448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/>
              <a:t>2. Basic data type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65E751-AFF8-78FC-03D4-E42FC8A449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7334" y="2425908"/>
            <a:ext cx="8326012" cy="388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719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DB481-96B5-6404-B787-C6A256496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D14AE27-82B7-DE09-7679-AA859051CBF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F17AB57-0EA7-F127-CB22-2DC396F915A7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/>
              <a:t>2. Basic data type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87B23E-C6DA-396A-F85F-D097F9B925A3}"/>
              </a:ext>
            </a:extLst>
          </p:cNvPr>
          <p:cNvSpPr txBox="1"/>
          <p:nvPr/>
        </p:nvSpPr>
        <p:spPr>
          <a:xfrm>
            <a:off x="499932" y="2305050"/>
            <a:ext cx="10938693" cy="2554545"/>
          </a:xfrm>
          <a:prstGeom prst="rect">
            <a:avLst/>
          </a:prstGeom>
          <a:solidFill>
            <a:srgbClr val="C8CFA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Exercise: input these variables and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/>
              <a:t>Int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/>
              <a:t>Float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/>
              <a:t>Char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Exercise: print sizeof each data-type</a:t>
            </a:r>
          </a:p>
        </p:txBody>
      </p:sp>
    </p:spTree>
    <p:extLst>
      <p:ext uri="{BB962C8B-B14F-4D97-AF65-F5344CB8AC3E}">
        <p14:creationId xmlns:p14="http://schemas.microsoft.com/office/powerpoint/2010/main" val="5280918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78A34D-0D8C-BD88-B427-6ADAF2538448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/>
              <a:t>Open point: use variable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D3C42D-36A3-F27E-0EA8-23CB65CCC6BB}"/>
              </a:ext>
            </a:extLst>
          </p:cNvPr>
          <p:cNvSpPr txBox="1"/>
          <p:nvPr/>
        </p:nvSpPr>
        <p:spPr>
          <a:xfrm>
            <a:off x="499932" y="2305050"/>
            <a:ext cx="10938693" cy="4524315"/>
          </a:xfrm>
          <a:prstGeom prst="rect">
            <a:avLst/>
          </a:prstGeom>
          <a:solidFill>
            <a:srgbClr val="C8CFA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Memory occupy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Meaningful: int x?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Exercise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/>
              <a:t>Use void type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/>
              <a:t>Opps. Has driver</a:t>
            </a:r>
          </a:p>
          <a:p>
            <a:pPr lvl="1"/>
            <a:r>
              <a:rPr lang="en-US" sz="3200"/>
              <a:t>license? (int?)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320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320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32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E32D5E-D513-7424-C2EC-7D45253A78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8924" y="3437626"/>
            <a:ext cx="6325483" cy="2495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0617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78A34D-0D8C-BD88-B427-6ADAF2538448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/>
              <a:t>Open point: use variable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D3C42D-36A3-F27E-0EA8-23CB65CCC6BB}"/>
              </a:ext>
            </a:extLst>
          </p:cNvPr>
          <p:cNvSpPr txBox="1"/>
          <p:nvPr/>
        </p:nvSpPr>
        <p:spPr>
          <a:xfrm>
            <a:off x="499932" y="2305050"/>
            <a:ext cx="10938693" cy="3046988"/>
          </a:xfrm>
          <a:prstGeom prst="rect">
            <a:avLst/>
          </a:prstGeom>
          <a:solidFill>
            <a:srgbClr val="C8CFA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Compare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/>
              <a:t>int x;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/>
              <a:t>int x = 1;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/>
              <a:t>Why void? When use void?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320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40907394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78A34D-0D8C-BD88-B427-6ADAF2538448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/>
              <a:t>3. Pointer variable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D3C42D-36A3-F27E-0EA8-23CB65CCC6BB}"/>
              </a:ext>
            </a:extLst>
          </p:cNvPr>
          <p:cNvSpPr txBox="1"/>
          <p:nvPr/>
        </p:nvSpPr>
        <p:spPr>
          <a:xfrm>
            <a:off x="499932" y="2305050"/>
            <a:ext cx="10938693" cy="1569660"/>
          </a:xfrm>
          <a:prstGeom prst="rect">
            <a:avLst/>
          </a:prstGeom>
          <a:solidFill>
            <a:srgbClr val="C8CFA0"/>
          </a:solidFill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/>
              <a:t>What is the pointer?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/>
              <a:t>Does pointer has address itself?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/>
              <a:t>NULL pointer</a:t>
            </a:r>
          </a:p>
        </p:txBody>
      </p:sp>
    </p:spTree>
    <p:extLst>
      <p:ext uri="{BB962C8B-B14F-4D97-AF65-F5344CB8AC3E}">
        <p14:creationId xmlns:p14="http://schemas.microsoft.com/office/powerpoint/2010/main" val="42517161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9AF91-E8B5-C9EC-C961-C7DCFAC14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0496F9B-9006-606B-EAC3-C0DA37C084A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0F5AF4A-3981-DFA4-3097-E76D3175F9F7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/>
              <a:t>Open point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5BFA2E-E668-6386-82E6-9B52F0D0EE9D}"/>
              </a:ext>
            </a:extLst>
          </p:cNvPr>
          <p:cNvSpPr txBox="1"/>
          <p:nvPr/>
        </p:nvSpPr>
        <p:spPr>
          <a:xfrm>
            <a:off x="499932" y="2305050"/>
            <a:ext cx="10938693" cy="1077218"/>
          </a:xfrm>
          <a:prstGeom prst="rect">
            <a:avLst/>
          </a:prstGeom>
          <a:solidFill>
            <a:srgbClr val="C8CFA0"/>
          </a:solidFill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/>
              <a:t>What is the variable?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/>
              <a:t>Why we need variable?</a:t>
            </a:r>
          </a:p>
        </p:txBody>
      </p:sp>
    </p:spTree>
    <p:extLst>
      <p:ext uri="{BB962C8B-B14F-4D97-AF65-F5344CB8AC3E}">
        <p14:creationId xmlns:p14="http://schemas.microsoft.com/office/powerpoint/2010/main" val="33632894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78A34D-0D8C-BD88-B427-6ADAF2538448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/>
              <a:t>6. Q&amp;A</a:t>
            </a:r>
          </a:p>
        </p:txBody>
      </p:sp>
      <p:pic>
        <p:nvPicPr>
          <p:cNvPr id="4098" name="Picture 2" descr="Q And A Images – Browse 183,804 Stock Photos, Vectors, and Video | Adobe  Stock">
            <a:extLst>
              <a:ext uri="{FF2B5EF4-FFF2-40B4-BE49-F238E27FC236}">
                <a16:creationId xmlns:a16="http://schemas.microsoft.com/office/drawing/2014/main" id="{D3E842B5-2EEE-821D-4C9B-BD7789AC00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3588" y="2672032"/>
            <a:ext cx="7800975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9702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432</TotalTime>
  <Words>187</Words>
  <Application>Microsoft Office PowerPoint</Application>
  <PresentationFormat>Widescreen</PresentationFormat>
  <Paragraphs>78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Quan</dc:creator>
  <cp:lastModifiedBy>Bùi Thu Hiền</cp:lastModifiedBy>
  <cp:revision>89</cp:revision>
  <dcterms:created xsi:type="dcterms:W3CDTF">2024-01-20T03:37:02Z</dcterms:created>
  <dcterms:modified xsi:type="dcterms:W3CDTF">2025-03-25T14:03:53Z</dcterms:modified>
</cp:coreProperties>
</file>